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30"/>
  </p:handoutMasterIdLst>
  <p:sldIdLst>
    <p:sldId id="557" r:id="rId3"/>
    <p:sldId id="568" r:id="rId5"/>
    <p:sldId id="571" r:id="rId6"/>
    <p:sldId id="592" r:id="rId7"/>
    <p:sldId id="593" r:id="rId8"/>
    <p:sldId id="594" r:id="rId9"/>
    <p:sldId id="595" r:id="rId10"/>
    <p:sldId id="596" r:id="rId11"/>
    <p:sldId id="599" r:id="rId12"/>
    <p:sldId id="625" r:id="rId13"/>
    <p:sldId id="624" r:id="rId14"/>
    <p:sldId id="626" r:id="rId15"/>
    <p:sldId id="655" r:id="rId16"/>
    <p:sldId id="656" r:id="rId17"/>
    <p:sldId id="657" r:id="rId18"/>
    <p:sldId id="658" r:id="rId19"/>
    <p:sldId id="659" r:id="rId20"/>
    <p:sldId id="603" r:id="rId21"/>
    <p:sldId id="631" r:id="rId22"/>
    <p:sldId id="628" r:id="rId23"/>
    <p:sldId id="632" r:id="rId24"/>
    <p:sldId id="660" r:id="rId25"/>
    <p:sldId id="661" r:id="rId26"/>
    <p:sldId id="623" r:id="rId27"/>
    <p:sldId id="602" r:id="rId28"/>
    <p:sldId id="584" r:id="rId29"/>
  </p:sldIdLst>
  <p:sldSz cx="9144000" cy="5143500" type="screen16x9"/>
  <p:notesSz cx="6858000" cy="9144000"/>
  <p:embeddedFontLst>
    <p:embeddedFont>
      <p:font typeface="黑体" panose="02010609060101010101" charset="-122"/>
      <p:regular r:id="rId34"/>
    </p:embeddedFont>
    <p:embeddedFont>
      <p:font typeface="微软雅黑" panose="020B0503020204020204" pitchFamily="34" charset="-122"/>
      <p:regular r:id="rId35"/>
    </p:embeddedFont>
    <p:embeddedFont>
      <p:font typeface="Calibri" panose="020F0502020204030204" pitchFamily="34" charset="0"/>
      <p:regular r:id="rId36"/>
      <p:bold r:id="rId37"/>
      <p:italic r:id="rId38"/>
      <p:boldItalic r:id="rId39"/>
    </p:embeddedFont>
    <p:embeddedFont>
      <p:font typeface="新宋体" panose="02010609030101010101" charset="-122"/>
      <p:regular r:id="rId40"/>
    </p:embeddedFont>
    <p:embeddedFont>
      <p:font typeface="华文细黑" panose="02010600040101010101" charset="-122"/>
      <p:regular r:id="rId41"/>
    </p:embeddedFont>
    <p:embeddedFont>
      <p:font typeface="微软雅黑 Light" panose="020B0502040204020203" charset="-122"/>
      <p:regular r:id="rId42"/>
    </p:embeddedFont>
    <p:embeddedFont>
      <p:font typeface="Calibri Light" panose="020F0302020204030204" charset="0"/>
      <p:regular r:id="rId43"/>
      <p:italic r:id="rId44"/>
    </p:embeddedFont>
    <p:embeddedFont>
      <p:font typeface="等线" panose="02010600030101010101" charset="-122"/>
      <p:regular r:id="rId45"/>
    </p:embeddedFont>
  </p:embeddedFontLst>
  <p:custDataLst>
    <p:tags r:id="rId46"/>
  </p:custDataLst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ADB9"/>
    <a:srgbClr val="393A45"/>
    <a:srgbClr val="D1D0D0"/>
    <a:srgbClr val="6B9DD3"/>
    <a:srgbClr val="FFFFFF"/>
    <a:srgbClr val="428CDB"/>
    <a:srgbClr val="7AB9FC"/>
    <a:srgbClr val="478FDE"/>
    <a:srgbClr val="5197E3"/>
    <a:srgbClr val="0B45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95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154" y="139"/>
      </p:cViewPr>
      <p:guideLst>
        <p:guide orient="horz" pos="3113"/>
        <p:guide orient="horz" pos="2240"/>
        <p:guide orient="horz" pos="2686"/>
        <p:guide pos="5404"/>
        <p:guide orient="horz" pos="2006"/>
        <p:guide pos="1602"/>
        <p:guide orient="horz" pos="1914"/>
        <p:guide pos="122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23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6" Type="http://schemas.openxmlformats.org/officeDocument/2006/relationships/tags" Target="tags/tag7.xml"/><Relationship Id="rId45" Type="http://schemas.openxmlformats.org/officeDocument/2006/relationships/font" Target="fonts/font12.fntdata"/><Relationship Id="rId44" Type="http://schemas.openxmlformats.org/officeDocument/2006/relationships/font" Target="fonts/font11.fntdata"/><Relationship Id="rId43" Type="http://schemas.openxmlformats.org/officeDocument/2006/relationships/font" Target="fonts/font10.fntdata"/><Relationship Id="rId42" Type="http://schemas.openxmlformats.org/officeDocument/2006/relationships/font" Target="fonts/font9.fntdata"/><Relationship Id="rId41" Type="http://schemas.openxmlformats.org/officeDocument/2006/relationships/font" Target="fonts/font8.fntdata"/><Relationship Id="rId40" Type="http://schemas.openxmlformats.org/officeDocument/2006/relationships/font" Target="fonts/font7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6.fntdata"/><Relationship Id="rId38" Type="http://schemas.openxmlformats.org/officeDocument/2006/relationships/font" Target="fonts/font5.fntdata"/><Relationship Id="rId37" Type="http://schemas.openxmlformats.org/officeDocument/2006/relationships/font" Target="fonts/font4.fntdata"/><Relationship Id="rId36" Type="http://schemas.openxmlformats.org/officeDocument/2006/relationships/font" Target="fonts/font3.fntdata"/><Relationship Id="rId35" Type="http://schemas.openxmlformats.org/officeDocument/2006/relationships/font" Target="fonts/font2.fntdata"/><Relationship Id="rId34" Type="http://schemas.openxmlformats.org/officeDocument/2006/relationships/font" Target="fonts/font1.fntdata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186711-BC89-4C17-A64B-4C604E2D5E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3607AC-E6DC-498A-A7C8-F54289A2AFD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607AC-E6DC-498A-A7C8-F54289A2AF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607AC-E6DC-498A-A7C8-F54289A2AF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607AC-E6DC-498A-A7C8-F54289A2AF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607AC-E6DC-498A-A7C8-F54289A2AF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607AC-E6DC-498A-A7C8-F54289A2AF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607AC-E6DC-498A-A7C8-F54289A2AF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607AC-E6DC-498A-A7C8-F54289A2AF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607AC-E6DC-498A-A7C8-F54289A2AF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607AC-E6DC-498A-A7C8-F54289A2AF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607AC-E6DC-498A-A7C8-F54289A2AF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607AC-E6DC-498A-A7C8-F54289A2AF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607AC-E6DC-498A-A7C8-F54289A2AF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607AC-E6DC-498A-A7C8-F54289A2AF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607AC-E6DC-498A-A7C8-F54289A2AF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607AC-E6DC-498A-A7C8-F54289A2AF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607AC-E6DC-498A-A7C8-F54289A2AF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607AC-E6DC-498A-A7C8-F54289A2AF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607AC-E6DC-498A-A7C8-F54289A2AF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607AC-E6DC-498A-A7C8-F54289A2AF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607AC-E6DC-498A-A7C8-F54289A2AF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607AC-E6DC-498A-A7C8-F54289A2AF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607AC-E6DC-498A-A7C8-F54289A2AF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"/>
          <p:cNvGrpSpPr>
            <a:grpSpLocks noChangeAspect="1"/>
          </p:cNvGrpSpPr>
          <p:nvPr userDrawn="1"/>
        </p:nvGrpSpPr>
        <p:grpSpPr bwMode="auto">
          <a:xfrm>
            <a:off x="5128592" y="-781878"/>
            <a:ext cx="4813991" cy="6491111"/>
            <a:chOff x="3440" y="-384"/>
            <a:chExt cx="2414" cy="3255"/>
          </a:xfrm>
        </p:grpSpPr>
        <p:sp>
          <p:nvSpPr>
            <p:cNvPr id="6" name="Freeform 5"/>
            <p:cNvSpPr/>
            <p:nvPr userDrawn="1"/>
          </p:nvSpPr>
          <p:spPr bwMode="auto">
            <a:xfrm>
              <a:off x="3440" y="474"/>
              <a:ext cx="1037" cy="1037"/>
            </a:xfrm>
            <a:custGeom>
              <a:avLst/>
              <a:gdLst>
                <a:gd name="T0" fmla="*/ 1241 w 1277"/>
                <a:gd name="T1" fmla="*/ 574 h 1277"/>
                <a:gd name="T2" fmla="*/ 704 w 1277"/>
                <a:gd name="T3" fmla="*/ 36 h 1277"/>
                <a:gd name="T4" fmla="*/ 573 w 1277"/>
                <a:gd name="T5" fmla="*/ 36 h 1277"/>
                <a:gd name="T6" fmla="*/ 36 w 1277"/>
                <a:gd name="T7" fmla="*/ 574 h 1277"/>
                <a:gd name="T8" fmla="*/ 36 w 1277"/>
                <a:gd name="T9" fmla="*/ 704 h 1277"/>
                <a:gd name="T10" fmla="*/ 573 w 1277"/>
                <a:gd name="T11" fmla="*/ 1241 h 1277"/>
                <a:gd name="T12" fmla="*/ 704 w 1277"/>
                <a:gd name="T13" fmla="*/ 1241 h 1277"/>
                <a:gd name="T14" fmla="*/ 1241 w 1277"/>
                <a:gd name="T15" fmla="*/ 704 h 1277"/>
                <a:gd name="T16" fmla="*/ 1241 w 1277"/>
                <a:gd name="T17" fmla="*/ 574 h 1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77" h="1277">
                  <a:moveTo>
                    <a:pt x="1241" y="574"/>
                  </a:moveTo>
                  <a:cubicBezTo>
                    <a:pt x="704" y="36"/>
                    <a:pt x="704" y="36"/>
                    <a:pt x="704" y="36"/>
                  </a:cubicBezTo>
                  <a:cubicBezTo>
                    <a:pt x="668" y="0"/>
                    <a:pt x="609" y="0"/>
                    <a:pt x="573" y="36"/>
                  </a:cubicBezTo>
                  <a:cubicBezTo>
                    <a:pt x="36" y="574"/>
                    <a:pt x="36" y="574"/>
                    <a:pt x="36" y="574"/>
                  </a:cubicBezTo>
                  <a:cubicBezTo>
                    <a:pt x="0" y="610"/>
                    <a:pt x="0" y="668"/>
                    <a:pt x="36" y="704"/>
                  </a:cubicBezTo>
                  <a:cubicBezTo>
                    <a:pt x="573" y="1241"/>
                    <a:pt x="573" y="1241"/>
                    <a:pt x="573" y="1241"/>
                  </a:cubicBezTo>
                  <a:cubicBezTo>
                    <a:pt x="609" y="1277"/>
                    <a:pt x="668" y="1277"/>
                    <a:pt x="704" y="1241"/>
                  </a:cubicBezTo>
                  <a:cubicBezTo>
                    <a:pt x="1241" y="704"/>
                    <a:pt x="1241" y="704"/>
                    <a:pt x="1241" y="704"/>
                  </a:cubicBezTo>
                  <a:cubicBezTo>
                    <a:pt x="1277" y="668"/>
                    <a:pt x="1277" y="610"/>
                    <a:pt x="1241" y="574"/>
                  </a:cubicBezTo>
                  <a:close/>
                </a:path>
              </a:pathLst>
            </a:custGeom>
            <a:solidFill>
              <a:srgbClr val="D1D0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Freeform 6"/>
            <p:cNvSpPr/>
            <p:nvPr userDrawn="1"/>
          </p:nvSpPr>
          <p:spPr bwMode="auto">
            <a:xfrm>
              <a:off x="4296" y="676"/>
              <a:ext cx="1400" cy="1400"/>
            </a:xfrm>
            <a:custGeom>
              <a:avLst/>
              <a:gdLst>
                <a:gd name="T0" fmla="*/ 1689 w 1725"/>
                <a:gd name="T1" fmla="*/ 797 h 1725"/>
                <a:gd name="T2" fmla="*/ 928 w 1725"/>
                <a:gd name="T3" fmla="*/ 36 h 1725"/>
                <a:gd name="T4" fmla="*/ 797 w 1725"/>
                <a:gd name="T5" fmla="*/ 36 h 1725"/>
                <a:gd name="T6" fmla="*/ 36 w 1725"/>
                <a:gd name="T7" fmla="*/ 797 h 1725"/>
                <a:gd name="T8" fmla="*/ 36 w 1725"/>
                <a:gd name="T9" fmla="*/ 928 h 1725"/>
                <a:gd name="T10" fmla="*/ 797 w 1725"/>
                <a:gd name="T11" fmla="*/ 1689 h 1725"/>
                <a:gd name="T12" fmla="*/ 928 w 1725"/>
                <a:gd name="T13" fmla="*/ 1689 h 1725"/>
                <a:gd name="T14" fmla="*/ 1689 w 1725"/>
                <a:gd name="T15" fmla="*/ 928 h 1725"/>
                <a:gd name="T16" fmla="*/ 1689 w 1725"/>
                <a:gd name="T17" fmla="*/ 797 h 1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25" h="1725">
                  <a:moveTo>
                    <a:pt x="1689" y="797"/>
                  </a:moveTo>
                  <a:cubicBezTo>
                    <a:pt x="928" y="36"/>
                    <a:pt x="928" y="36"/>
                    <a:pt x="928" y="36"/>
                  </a:cubicBezTo>
                  <a:cubicBezTo>
                    <a:pt x="892" y="0"/>
                    <a:pt x="833" y="0"/>
                    <a:pt x="797" y="36"/>
                  </a:cubicBezTo>
                  <a:cubicBezTo>
                    <a:pt x="36" y="797"/>
                    <a:pt x="36" y="797"/>
                    <a:pt x="36" y="797"/>
                  </a:cubicBezTo>
                  <a:cubicBezTo>
                    <a:pt x="0" y="833"/>
                    <a:pt x="0" y="892"/>
                    <a:pt x="36" y="928"/>
                  </a:cubicBezTo>
                  <a:cubicBezTo>
                    <a:pt x="797" y="1689"/>
                    <a:pt x="797" y="1689"/>
                    <a:pt x="797" y="1689"/>
                  </a:cubicBezTo>
                  <a:cubicBezTo>
                    <a:pt x="833" y="1725"/>
                    <a:pt x="892" y="1725"/>
                    <a:pt x="928" y="1689"/>
                  </a:cubicBezTo>
                  <a:cubicBezTo>
                    <a:pt x="1689" y="928"/>
                    <a:pt x="1689" y="928"/>
                    <a:pt x="1689" y="928"/>
                  </a:cubicBezTo>
                  <a:cubicBezTo>
                    <a:pt x="1725" y="892"/>
                    <a:pt x="1725" y="833"/>
                    <a:pt x="1689" y="797"/>
                  </a:cubicBezTo>
                  <a:close/>
                </a:path>
              </a:pathLst>
            </a:custGeom>
            <a:solidFill>
              <a:srgbClr val="D1D0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7"/>
            <p:cNvSpPr/>
            <p:nvPr userDrawn="1"/>
          </p:nvSpPr>
          <p:spPr bwMode="auto">
            <a:xfrm>
              <a:off x="3953" y="-384"/>
              <a:ext cx="973" cy="973"/>
            </a:xfrm>
            <a:custGeom>
              <a:avLst/>
              <a:gdLst>
                <a:gd name="T0" fmla="*/ 1163 w 1199"/>
                <a:gd name="T1" fmla="*/ 535 h 1199"/>
                <a:gd name="T2" fmla="*/ 665 w 1199"/>
                <a:gd name="T3" fmla="*/ 36 h 1199"/>
                <a:gd name="T4" fmla="*/ 535 w 1199"/>
                <a:gd name="T5" fmla="*/ 36 h 1199"/>
                <a:gd name="T6" fmla="*/ 36 w 1199"/>
                <a:gd name="T7" fmla="*/ 535 h 1199"/>
                <a:gd name="T8" fmla="*/ 36 w 1199"/>
                <a:gd name="T9" fmla="*/ 665 h 1199"/>
                <a:gd name="T10" fmla="*/ 535 w 1199"/>
                <a:gd name="T11" fmla="*/ 1163 h 1199"/>
                <a:gd name="T12" fmla="*/ 665 w 1199"/>
                <a:gd name="T13" fmla="*/ 1163 h 1199"/>
                <a:gd name="T14" fmla="*/ 1163 w 1199"/>
                <a:gd name="T15" fmla="*/ 665 h 1199"/>
                <a:gd name="T16" fmla="*/ 1163 w 1199"/>
                <a:gd name="T17" fmla="*/ 535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9" h="1199">
                  <a:moveTo>
                    <a:pt x="1163" y="535"/>
                  </a:moveTo>
                  <a:cubicBezTo>
                    <a:pt x="665" y="36"/>
                    <a:pt x="665" y="36"/>
                    <a:pt x="665" y="36"/>
                  </a:cubicBezTo>
                  <a:cubicBezTo>
                    <a:pt x="629" y="0"/>
                    <a:pt x="571" y="0"/>
                    <a:pt x="535" y="36"/>
                  </a:cubicBezTo>
                  <a:cubicBezTo>
                    <a:pt x="36" y="535"/>
                    <a:pt x="36" y="535"/>
                    <a:pt x="36" y="535"/>
                  </a:cubicBezTo>
                  <a:cubicBezTo>
                    <a:pt x="0" y="571"/>
                    <a:pt x="0" y="629"/>
                    <a:pt x="36" y="665"/>
                  </a:cubicBezTo>
                  <a:cubicBezTo>
                    <a:pt x="535" y="1163"/>
                    <a:pt x="535" y="1163"/>
                    <a:pt x="535" y="1163"/>
                  </a:cubicBezTo>
                  <a:cubicBezTo>
                    <a:pt x="571" y="1199"/>
                    <a:pt x="629" y="1199"/>
                    <a:pt x="665" y="1163"/>
                  </a:cubicBezTo>
                  <a:cubicBezTo>
                    <a:pt x="1163" y="665"/>
                    <a:pt x="1163" y="665"/>
                    <a:pt x="1163" y="665"/>
                  </a:cubicBezTo>
                  <a:cubicBezTo>
                    <a:pt x="1199" y="629"/>
                    <a:pt x="1199" y="571"/>
                    <a:pt x="1163" y="535"/>
                  </a:cubicBezTo>
                  <a:close/>
                </a:path>
              </a:pathLst>
            </a:custGeom>
            <a:solidFill>
              <a:srgbClr val="D1D0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8"/>
            <p:cNvSpPr/>
            <p:nvPr userDrawn="1"/>
          </p:nvSpPr>
          <p:spPr bwMode="auto">
            <a:xfrm>
              <a:off x="4881" y="854"/>
              <a:ext cx="973" cy="973"/>
            </a:xfrm>
            <a:custGeom>
              <a:avLst/>
              <a:gdLst>
                <a:gd name="T0" fmla="*/ 1163 w 1199"/>
                <a:gd name="T1" fmla="*/ 534 h 1199"/>
                <a:gd name="T2" fmla="*/ 664 w 1199"/>
                <a:gd name="T3" fmla="*/ 36 h 1199"/>
                <a:gd name="T4" fmla="*/ 534 w 1199"/>
                <a:gd name="T5" fmla="*/ 36 h 1199"/>
                <a:gd name="T6" fmla="*/ 36 w 1199"/>
                <a:gd name="T7" fmla="*/ 534 h 1199"/>
                <a:gd name="T8" fmla="*/ 36 w 1199"/>
                <a:gd name="T9" fmla="*/ 664 h 1199"/>
                <a:gd name="T10" fmla="*/ 534 w 1199"/>
                <a:gd name="T11" fmla="*/ 1163 h 1199"/>
                <a:gd name="T12" fmla="*/ 664 w 1199"/>
                <a:gd name="T13" fmla="*/ 1163 h 1199"/>
                <a:gd name="T14" fmla="*/ 1163 w 1199"/>
                <a:gd name="T15" fmla="*/ 664 h 1199"/>
                <a:gd name="T16" fmla="*/ 1163 w 1199"/>
                <a:gd name="T17" fmla="*/ 53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9" h="1199">
                  <a:moveTo>
                    <a:pt x="1163" y="534"/>
                  </a:moveTo>
                  <a:cubicBezTo>
                    <a:pt x="664" y="36"/>
                    <a:pt x="664" y="36"/>
                    <a:pt x="664" y="36"/>
                  </a:cubicBezTo>
                  <a:cubicBezTo>
                    <a:pt x="628" y="0"/>
                    <a:pt x="570" y="0"/>
                    <a:pt x="534" y="36"/>
                  </a:cubicBezTo>
                  <a:cubicBezTo>
                    <a:pt x="36" y="534"/>
                    <a:pt x="36" y="534"/>
                    <a:pt x="36" y="534"/>
                  </a:cubicBezTo>
                  <a:cubicBezTo>
                    <a:pt x="0" y="570"/>
                    <a:pt x="0" y="628"/>
                    <a:pt x="36" y="664"/>
                  </a:cubicBezTo>
                  <a:cubicBezTo>
                    <a:pt x="534" y="1163"/>
                    <a:pt x="534" y="1163"/>
                    <a:pt x="534" y="1163"/>
                  </a:cubicBezTo>
                  <a:cubicBezTo>
                    <a:pt x="570" y="1199"/>
                    <a:pt x="628" y="1199"/>
                    <a:pt x="664" y="1163"/>
                  </a:cubicBezTo>
                  <a:cubicBezTo>
                    <a:pt x="1163" y="664"/>
                    <a:pt x="1163" y="664"/>
                    <a:pt x="1163" y="664"/>
                  </a:cubicBezTo>
                  <a:cubicBezTo>
                    <a:pt x="1199" y="628"/>
                    <a:pt x="1199" y="570"/>
                    <a:pt x="1163" y="534"/>
                  </a:cubicBezTo>
                  <a:close/>
                </a:path>
              </a:pathLst>
            </a:custGeom>
            <a:solidFill>
              <a:srgbClr val="BAB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9"/>
            <p:cNvSpPr/>
            <p:nvPr userDrawn="1"/>
          </p:nvSpPr>
          <p:spPr bwMode="auto">
            <a:xfrm>
              <a:off x="3501" y="1898"/>
              <a:ext cx="973" cy="973"/>
            </a:xfrm>
            <a:custGeom>
              <a:avLst/>
              <a:gdLst>
                <a:gd name="T0" fmla="*/ 1163 w 1199"/>
                <a:gd name="T1" fmla="*/ 535 h 1199"/>
                <a:gd name="T2" fmla="*/ 664 w 1199"/>
                <a:gd name="T3" fmla="*/ 36 h 1199"/>
                <a:gd name="T4" fmla="*/ 534 w 1199"/>
                <a:gd name="T5" fmla="*/ 36 h 1199"/>
                <a:gd name="T6" fmla="*/ 36 w 1199"/>
                <a:gd name="T7" fmla="*/ 535 h 1199"/>
                <a:gd name="T8" fmla="*/ 36 w 1199"/>
                <a:gd name="T9" fmla="*/ 665 h 1199"/>
                <a:gd name="T10" fmla="*/ 534 w 1199"/>
                <a:gd name="T11" fmla="*/ 1163 h 1199"/>
                <a:gd name="T12" fmla="*/ 664 w 1199"/>
                <a:gd name="T13" fmla="*/ 1163 h 1199"/>
                <a:gd name="T14" fmla="*/ 1163 w 1199"/>
                <a:gd name="T15" fmla="*/ 665 h 1199"/>
                <a:gd name="T16" fmla="*/ 1163 w 1199"/>
                <a:gd name="T17" fmla="*/ 535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9" h="1199">
                  <a:moveTo>
                    <a:pt x="1163" y="535"/>
                  </a:moveTo>
                  <a:cubicBezTo>
                    <a:pt x="664" y="36"/>
                    <a:pt x="664" y="36"/>
                    <a:pt x="664" y="36"/>
                  </a:cubicBezTo>
                  <a:cubicBezTo>
                    <a:pt x="628" y="0"/>
                    <a:pt x="570" y="0"/>
                    <a:pt x="534" y="36"/>
                  </a:cubicBezTo>
                  <a:cubicBezTo>
                    <a:pt x="36" y="535"/>
                    <a:pt x="36" y="535"/>
                    <a:pt x="36" y="535"/>
                  </a:cubicBezTo>
                  <a:cubicBezTo>
                    <a:pt x="0" y="571"/>
                    <a:pt x="0" y="629"/>
                    <a:pt x="36" y="665"/>
                  </a:cubicBezTo>
                  <a:cubicBezTo>
                    <a:pt x="534" y="1163"/>
                    <a:pt x="534" y="1163"/>
                    <a:pt x="534" y="1163"/>
                  </a:cubicBezTo>
                  <a:cubicBezTo>
                    <a:pt x="570" y="1199"/>
                    <a:pt x="628" y="1199"/>
                    <a:pt x="664" y="1163"/>
                  </a:cubicBezTo>
                  <a:cubicBezTo>
                    <a:pt x="1163" y="665"/>
                    <a:pt x="1163" y="665"/>
                    <a:pt x="1163" y="665"/>
                  </a:cubicBezTo>
                  <a:cubicBezTo>
                    <a:pt x="1199" y="629"/>
                    <a:pt x="1199" y="571"/>
                    <a:pt x="1163" y="535"/>
                  </a:cubicBezTo>
                  <a:close/>
                </a:path>
              </a:pathLst>
            </a:custGeom>
            <a:solidFill>
              <a:srgbClr val="BAB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10"/>
            <p:cNvSpPr/>
            <p:nvPr userDrawn="1"/>
          </p:nvSpPr>
          <p:spPr bwMode="auto">
            <a:xfrm>
              <a:off x="4180" y="1355"/>
              <a:ext cx="734" cy="734"/>
            </a:xfrm>
            <a:custGeom>
              <a:avLst/>
              <a:gdLst>
                <a:gd name="T0" fmla="*/ 869 w 905"/>
                <a:gd name="T1" fmla="*/ 388 h 905"/>
                <a:gd name="T2" fmla="*/ 517 w 905"/>
                <a:gd name="T3" fmla="*/ 36 h 905"/>
                <a:gd name="T4" fmla="*/ 387 w 905"/>
                <a:gd name="T5" fmla="*/ 36 h 905"/>
                <a:gd name="T6" fmla="*/ 35 w 905"/>
                <a:gd name="T7" fmla="*/ 388 h 905"/>
                <a:gd name="T8" fmla="*/ 35 w 905"/>
                <a:gd name="T9" fmla="*/ 518 h 905"/>
                <a:gd name="T10" fmla="*/ 387 w 905"/>
                <a:gd name="T11" fmla="*/ 869 h 905"/>
                <a:gd name="T12" fmla="*/ 517 w 905"/>
                <a:gd name="T13" fmla="*/ 869 h 905"/>
                <a:gd name="T14" fmla="*/ 869 w 905"/>
                <a:gd name="T15" fmla="*/ 518 h 905"/>
                <a:gd name="T16" fmla="*/ 869 w 905"/>
                <a:gd name="T17" fmla="*/ 388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5" h="905">
                  <a:moveTo>
                    <a:pt x="869" y="388"/>
                  </a:moveTo>
                  <a:cubicBezTo>
                    <a:pt x="517" y="36"/>
                    <a:pt x="517" y="36"/>
                    <a:pt x="517" y="36"/>
                  </a:cubicBezTo>
                  <a:cubicBezTo>
                    <a:pt x="481" y="0"/>
                    <a:pt x="423" y="0"/>
                    <a:pt x="387" y="36"/>
                  </a:cubicBezTo>
                  <a:cubicBezTo>
                    <a:pt x="35" y="388"/>
                    <a:pt x="35" y="388"/>
                    <a:pt x="35" y="388"/>
                  </a:cubicBezTo>
                  <a:cubicBezTo>
                    <a:pt x="0" y="424"/>
                    <a:pt x="0" y="482"/>
                    <a:pt x="35" y="518"/>
                  </a:cubicBezTo>
                  <a:cubicBezTo>
                    <a:pt x="387" y="869"/>
                    <a:pt x="387" y="869"/>
                    <a:pt x="387" y="869"/>
                  </a:cubicBezTo>
                  <a:cubicBezTo>
                    <a:pt x="423" y="905"/>
                    <a:pt x="481" y="905"/>
                    <a:pt x="517" y="869"/>
                  </a:cubicBezTo>
                  <a:cubicBezTo>
                    <a:pt x="869" y="518"/>
                    <a:pt x="869" y="518"/>
                    <a:pt x="869" y="518"/>
                  </a:cubicBezTo>
                  <a:cubicBezTo>
                    <a:pt x="905" y="482"/>
                    <a:pt x="905" y="424"/>
                    <a:pt x="869" y="388"/>
                  </a:cubicBezTo>
                  <a:close/>
                </a:path>
              </a:pathLst>
            </a:custGeom>
            <a:solidFill>
              <a:srgbClr val="5AAD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11"/>
            <p:cNvSpPr/>
            <p:nvPr userDrawn="1"/>
          </p:nvSpPr>
          <p:spPr bwMode="auto">
            <a:xfrm>
              <a:off x="3450" y="443"/>
              <a:ext cx="439" cy="439"/>
            </a:xfrm>
            <a:custGeom>
              <a:avLst/>
              <a:gdLst>
                <a:gd name="T0" fmla="*/ 505 w 541"/>
                <a:gd name="T1" fmla="*/ 205 h 541"/>
                <a:gd name="T2" fmla="*/ 336 w 541"/>
                <a:gd name="T3" fmla="*/ 36 h 541"/>
                <a:gd name="T4" fmla="*/ 205 w 541"/>
                <a:gd name="T5" fmla="*/ 36 h 541"/>
                <a:gd name="T6" fmla="*/ 36 w 541"/>
                <a:gd name="T7" fmla="*/ 205 h 541"/>
                <a:gd name="T8" fmla="*/ 36 w 541"/>
                <a:gd name="T9" fmla="*/ 335 h 541"/>
                <a:gd name="T10" fmla="*/ 205 w 541"/>
                <a:gd name="T11" fmla="*/ 505 h 541"/>
                <a:gd name="T12" fmla="*/ 336 w 541"/>
                <a:gd name="T13" fmla="*/ 505 h 541"/>
                <a:gd name="T14" fmla="*/ 505 w 541"/>
                <a:gd name="T15" fmla="*/ 335 h 541"/>
                <a:gd name="T16" fmla="*/ 505 w 541"/>
                <a:gd name="T17" fmla="*/ 205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1" h="541">
                  <a:moveTo>
                    <a:pt x="505" y="205"/>
                  </a:moveTo>
                  <a:cubicBezTo>
                    <a:pt x="336" y="36"/>
                    <a:pt x="336" y="36"/>
                    <a:pt x="336" y="36"/>
                  </a:cubicBezTo>
                  <a:cubicBezTo>
                    <a:pt x="300" y="0"/>
                    <a:pt x="241" y="0"/>
                    <a:pt x="205" y="36"/>
                  </a:cubicBezTo>
                  <a:cubicBezTo>
                    <a:pt x="36" y="205"/>
                    <a:pt x="36" y="205"/>
                    <a:pt x="36" y="205"/>
                  </a:cubicBezTo>
                  <a:cubicBezTo>
                    <a:pt x="0" y="241"/>
                    <a:pt x="0" y="299"/>
                    <a:pt x="36" y="335"/>
                  </a:cubicBezTo>
                  <a:cubicBezTo>
                    <a:pt x="205" y="505"/>
                    <a:pt x="205" y="505"/>
                    <a:pt x="205" y="505"/>
                  </a:cubicBezTo>
                  <a:cubicBezTo>
                    <a:pt x="241" y="541"/>
                    <a:pt x="300" y="541"/>
                    <a:pt x="336" y="505"/>
                  </a:cubicBezTo>
                  <a:cubicBezTo>
                    <a:pt x="505" y="335"/>
                    <a:pt x="505" y="335"/>
                    <a:pt x="505" y="335"/>
                  </a:cubicBezTo>
                  <a:cubicBezTo>
                    <a:pt x="541" y="299"/>
                    <a:pt x="541" y="241"/>
                    <a:pt x="505" y="205"/>
                  </a:cubicBezTo>
                  <a:close/>
                </a:path>
              </a:pathLst>
            </a:custGeom>
            <a:solidFill>
              <a:srgbClr val="393A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12"/>
            <p:cNvSpPr/>
            <p:nvPr userDrawn="1"/>
          </p:nvSpPr>
          <p:spPr bwMode="auto">
            <a:xfrm>
              <a:off x="4701" y="351"/>
              <a:ext cx="439" cy="440"/>
            </a:xfrm>
            <a:custGeom>
              <a:avLst/>
              <a:gdLst>
                <a:gd name="T0" fmla="*/ 505 w 541"/>
                <a:gd name="T1" fmla="*/ 206 h 542"/>
                <a:gd name="T2" fmla="*/ 336 w 541"/>
                <a:gd name="T3" fmla="*/ 36 h 542"/>
                <a:gd name="T4" fmla="*/ 205 w 541"/>
                <a:gd name="T5" fmla="*/ 36 h 542"/>
                <a:gd name="T6" fmla="*/ 36 w 541"/>
                <a:gd name="T7" fmla="*/ 206 h 542"/>
                <a:gd name="T8" fmla="*/ 36 w 541"/>
                <a:gd name="T9" fmla="*/ 336 h 542"/>
                <a:gd name="T10" fmla="*/ 205 w 541"/>
                <a:gd name="T11" fmla="*/ 506 h 542"/>
                <a:gd name="T12" fmla="*/ 336 w 541"/>
                <a:gd name="T13" fmla="*/ 506 h 542"/>
                <a:gd name="T14" fmla="*/ 505 w 541"/>
                <a:gd name="T15" fmla="*/ 336 h 542"/>
                <a:gd name="T16" fmla="*/ 505 w 541"/>
                <a:gd name="T17" fmla="*/ 206 h 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1" h="542">
                  <a:moveTo>
                    <a:pt x="505" y="206"/>
                  </a:moveTo>
                  <a:cubicBezTo>
                    <a:pt x="336" y="36"/>
                    <a:pt x="336" y="36"/>
                    <a:pt x="336" y="36"/>
                  </a:cubicBezTo>
                  <a:cubicBezTo>
                    <a:pt x="300" y="0"/>
                    <a:pt x="241" y="0"/>
                    <a:pt x="205" y="36"/>
                  </a:cubicBezTo>
                  <a:cubicBezTo>
                    <a:pt x="36" y="206"/>
                    <a:pt x="36" y="206"/>
                    <a:pt x="36" y="206"/>
                  </a:cubicBezTo>
                  <a:cubicBezTo>
                    <a:pt x="0" y="242"/>
                    <a:pt x="0" y="300"/>
                    <a:pt x="36" y="336"/>
                  </a:cubicBezTo>
                  <a:cubicBezTo>
                    <a:pt x="205" y="506"/>
                    <a:pt x="205" y="506"/>
                    <a:pt x="205" y="506"/>
                  </a:cubicBezTo>
                  <a:cubicBezTo>
                    <a:pt x="241" y="542"/>
                    <a:pt x="300" y="542"/>
                    <a:pt x="336" y="506"/>
                  </a:cubicBezTo>
                  <a:cubicBezTo>
                    <a:pt x="505" y="336"/>
                    <a:pt x="505" y="336"/>
                    <a:pt x="505" y="336"/>
                  </a:cubicBezTo>
                  <a:cubicBezTo>
                    <a:pt x="541" y="300"/>
                    <a:pt x="541" y="242"/>
                    <a:pt x="505" y="206"/>
                  </a:cubicBezTo>
                  <a:close/>
                </a:path>
              </a:pathLst>
            </a:custGeom>
            <a:solidFill>
              <a:srgbClr val="5AAD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13"/>
            <p:cNvSpPr/>
            <p:nvPr userDrawn="1"/>
          </p:nvSpPr>
          <p:spPr bwMode="auto">
            <a:xfrm>
              <a:off x="3827" y="1514"/>
              <a:ext cx="673" cy="673"/>
            </a:xfrm>
            <a:custGeom>
              <a:avLst/>
              <a:gdLst>
                <a:gd name="T0" fmla="*/ 793 w 829"/>
                <a:gd name="T1" fmla="*/ 350 h 830"/>
                <a:gd name="T2" fmla="*/ 480 w 829"/>
                <a:gd name="T3" fmla="*/ 36 h 830"/>
                <a:gd name="T4" fmla="*/ 349 w 829"/>
                <a:gd name="T5" fmla="*/ 36 h 830"/>
                <a:gd name="T6" fmla="*/ 36 w 829"/>
                <a:gd name="T7" fmla="*/ 350 h 830"/>
                <a:gd name="T8" fmla="*/ 36 w 829"/>
                <a:gd name="T9" fmla="*/ 480 h 830"/>
                <a:gd name="T10" fmla="*/ 349 w 829"/>
                <a:gd name="T11" fmla="*/ 794 h 830"/>
                <a:gd name="T12" fmla="*/ 480 w 829"/>
                <a:gd name="T13" fmla="*/ 794 h 830"/>
                <a:gd name="T14" fmla="*/ 793 w 829"/>
                <a:gd name="T15" fmla="*/ 480 h 830"/>
                <a:gd name="T16" fmla="*/ 793 w 829"/>
                <a:gd name="T17" fmla="*/ 350 h 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29" h="830">
                  <a:moveTo>
                    <a:pt x="793" y="350"/>
                  </a:moveTo>
                  <a:cubicBezTo>
                    <a:pt x="480" y="36"/>
                    <a:pt x="480" y="36"/>
                    <a:pt x="480" y="36"/>
                  </a:cubicBezTo>
                  <a:cubicBezTo>
                    <a:pt x="444" y="0"/>
                    <a:pt x="385" y="0"/>
                    <a:pt x="349" y="36"/>
                  </a:cubicBezTo>
                  <a:cubicBezTo>
                    <a:pt x="36" y="350"/>
                    <a:pt x="36" y="350"/>
                    <a:pt x="36" y="350"/>
                  </a:cubicBezTo>
                  <a:cubicBezTo>
                    <a:pt x="0" y="386"/>
                    <a:pt x="0" y="444"/>
                    <a:pt x="36" y="480"/>
                  </a:cubicBezTo>
                  <a:cubicBezTo>
                    <a:pt x="349" y="794"/>
                    <a:pt x="349" y="794"/>
                    <a:pt x="349" y="794"/>
                  </a:cubicBezTo>
                  <a:cubicBezTo>
                    <a:pt x="385" y="830"/>
                    <a:pt x="444" y="830"/>
                    <a:pt x="480" y="794"/>
                  </a:cubicBezTo>
                  <a:cubicBezTo>
                    <a:pt x="793" y="480"/>
                    <a:pt x="793" y="480"/>
                    <a:pt x="793" y="480"/>
                  </a:cubicBezTo>
                  <a:cubicBezTo>
                    <a:pt x="829" y="444"/>
                    <a:pt x="829" y="386"/>
                    <a:pt x="793" y="350"/>
                  </a:cubicBezTo>
                  <a:close/>
                </a:path>
              </a:pathLst>
            </a:custGeom>
            <a:noFill/>
            <a:ln w="9525" cap="flat">
              <a:solidFill>
                <a:srgbClr val="393A45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14"/>
            <p:cNvSpPr/>
            <p:nvPr userDrawn="1"/>
          </p:nvSpPr>
          <p:spPr bwMode="auto">
            <a:xfrm>
              <a:off x="4226" y="234"/>
              <a:ext cx="673" cy="674"/>
            </a:xfrm>
            <a:custGeom>
              <a:avLst/>
              <a:gdLst>
                <a:gd name="T0" fmla="*/ 794 w 830"/>
                <a:gd name="T1" fmla="*/ 350 h 830"/>
                <a:gd name="T2" fmla="*/ 480 w 830"/>
                <a:gd name="T3" fmla="*/ 36 h 830"/>
                <a:gd name="T4" fmla="*/ 350 w 830"/>
                <a:gd name="T5" fmla="*/ 36 h 830"/>
                <a:gd name="T6" fmla="*/ 36 w 830"/>
                <a:gd name="T7" fmla="*/ 350 h 830"/>
                <a:gd name="T8" fmla="*/ 36 w 830"/>
                <a:gd name="T9" fmla="*/ 480 h 830"/>
                <a:gd name="T10" fmla="*/ 350 w 830"/>
                <a:gd name="T11" fmla="*/ 794 h 830"/>
                <a:gd name="T12" fmla="*/ 480 w 830"/>
                <a:gd name="T13" fmla="*/ 794 h 830"/>
                <a:gd name="T14" fmla="*/ 794 w 830"/>
                <a:gd name="T15" fmla="*/ 480 h 830"/>
                <a:gd name="T16" fmla="*/ 794 w 830"/>
                <a:gd name="T17" fmla="*/ 350 h 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30" h="830">
                  <a:moveTo>
                    <a:pt x="794" y="350"/>
                  </a:moveTo>
                  <a:cubicBezTo>
                    <a:pt x="480" y="36"/>
                    <a:pt x="480" y="36"/>
                    <a:pt x="480" y="36"/>
                  </a:cubicBezTo>
                  <a:cubicBezTo>
                    <a:pt x="444" y="0"/>
                    <a:pt x="386" y="0"/>
                    <a:pt x="350" y="36"/>
                  </a:cubicBezTo>
                  <a:cubicBezTo>
                    <a:pt x="36" y="350"/>
                    <a:pt x="36" y="350"/>
                    <a:pt x="36" y="350"/>
                  </a:cubicBezTo>
                  <a:cubicBezTo>
                    <a:pt x="0" y="386"/>
                    <a:pt x="0" y="444"/>
                    <a:pt x="36" y="480"/>
                  </a:cubicBezTo>
                  <a:cubicBezTo>
                    <a:pt x="350" y="794"/>
                    <a:pt x="350" y="794"/>
                    <a:pt x="350" y="794"/>
                  </a:cubicBezTo>
                  <a:cubicBezTo>
                    <a:pt x="386" y="830"/>
                    <a:pt x="444" y="830"/>
                    <a:pt x="480" y="794"/>
                  </a:cubicBezTo>
                  <a:cubicBezTo>
                    <a:pt x="794" y="480"/>
                    <a:pt x="794" y="480"/>
                    <a:pt x="794" y="480"/>
                  </a:cubicBezTo>
                  <a:cubicBezTo>
                    <a:pt x="830" y="444"/>
                    <a:pt x="830" y="386"/>
                    <a:pt x="794" y="350"/>
                  </a:cubicBezTo>
                  <a:close/>
                </a:path>
              </a:pathLst>
            </a:custGeom>
            <a:noFill/>
            <a:ln w="9525" cap="flat">
              <a:solidFill>
                <a:srgbClr val="393A45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"/>
          <p:cNvGrpSpPr>
            <a:grpSpLocks noChangeAspect="1"/>
          </p:cNvGrpSpPr>
          <p:nvPr userDrawn="1"/>
        </p:nvGrpSpPr>
        <p:grpSpPr bwMode="auto">
          <a:xfrm>
            <a:off x="8211843" y="-109702"/>
            <a:ext cx="1568503" cy="1688088"/>
            <a:chOff x="3440" y="443"/>
            <a:chExt cx="2256" cy="2428"/>
          </a:xfrm>
        </p:grpSpPr>
        <p:sp>
          <p:nvSpPr>
            <p:cNvPr id="6" name="Freeform 5"/>
            <p:cNvSpPr/>
            <p:nvPr userDrawn="1"/>
          </p:nvSpPr>
          <p:spPr bwMode="auto">
            <a:xfrm>
              <a:off x="3440" y="474"/>
              <a:ext cx="1037" cy="1037"/>
            </a:xfrm>
            <a:custGeom>
              <a:avLst/>
              <a:gdLst>
                <a:gd name="T0" fmla="*/ 1241 w 1277"/>
                <a:gd name="T1" fmla="*/ 574 h 1277"/>
                <a:gd name="T2" fmla="*/ 704 w 1277"/>
                <a:gd name="T3" fmla="*/ 36 h 1277"/>
                <a:gd name="T4" fmla="*/ 573 w 1277"/>
                <a:gd name="T5" fmla="*/ 36 h 1277"/>
                <a:gd name="T6" fmla="*/ 36 w 1277"/>
                <a:gd name="T7" fmla="*/ 574 h 1277"/>
                <a:gd name="T8" fmla="*/ 36 w 1277"/>
                <a:gd name="T9" fmla="*/ 704 h 1277"/>
                <a:gd name="T10" fmla="*/ 573 w 1277"/>
                <a:gd name="T11" fmla="*/ 1241 h 1277"/>
                <a:gd name="T12" fmla="*/ 704 w 1277"/>
                <a:gd name="T13" fmla="*/ 1241 h 1277"/>
                <a:gd name="T14" fmla="*/ 1241 w 1277"/>
                <a:gd name="T15" fmla="*/ 704 h 1277"/>
                <a:gd name="T16" fmla="*/ 1241 w 1277"/>
                <a:gd name="T17" fmla="*/ 574 h 1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77" h="1277">
                  <a:moveTo>
                    <a:pt x="1241" y="574"/>
                  </a:moveTo>
                  <a:cubicBezTo>
                    <a:pt x="704" y="36"/>
                    <a:pt x="704" y="36"/>
                    <a:pt x="704" y="36"/>
                  </a:cubicBezTo>
                  <a:cubicBezTo>
                    <a:pt x="668" y="0"/>
                    <a:pt x="609" y="0"/>
                    <a:pt x="573" y="36"/>
                  </a:cubicBezTo>
                  <a:cubicBezTo>
                    <a:pt x="36" y="574"/>
                    <a:pt x="36" y="574"/>
                    <a:pt x="36" y="574"/>
                  </a:cubicBezTo>
                  <a:cubicBezTo>
                    <a:pt x="0" y="610"/>
                    <a:pt x="0" y="668"/>
                    <a:pt x="36" y="704"/>
                  </a:cubicBezTo>
                  <a:cubicBezTo>
                    <a:pt x="573" y="1241"/>
                    <a:pt x="573" y="1241"/>
                    <a:pt x="573" y="1241"/>
                  </a:cubicBezTo>
                  <a:cubicBezTo>
                    <a:pt x="609" y="1277"/>
                    <a:pt x="668" y="1277"/>
                    <a:pt x="704" y="1241"/>
                  </a:cubicBezTo>
                  <a:cubicBezTo>
                    <a:pt x="1241" y="704"/>
                    <a:pt x="1241" y="704"/>
                    <a:pt x="1241" y="704"/>
                  </a:cubicBezTo>
                  <a:cubicBezTo>
                    <a:pt x="1277" y="668"/>
                    <a:pt x="1277" y="610"/>
                    <a:pt x="1241" y="574"/>
                  </a:cubicBezTo>
                  <a:close/>
                </a:path>
              </a:pathLst>
            </a:custGeom>
            <a:solidFill>
              <a:srgbClr val="D1D0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Freeform 6"/>
            <p:cNvSpPr/>
            <p:nvPr userDrawn="1"/>
          </p:nvSpPr>
          <p:spPr bwMode="auto">
            <a:xfrm>
              <a:off x="4296" y="676"/>
              <a:ext cx="1400" cy="1400"/>
            </a:xfrm>
            <a:custGeom>
              <a:avLst/>
              <a:gdLst>
                <a:gd name="T0" fmla="*/ 1689 w 1725"/>
                <a:gd name="T1" fmla="*/ 797 h 1725"/>
                <a:gd name="T2" fmla="*/ 928 w 1725"/>
                <a:gd name="T3" fmla="*/ 36 h 1725"/>
                <a:gd name="T4" fmla="*/ 797 w 1725"/>
                <a:gd name="T5" fmla="*/ 36 h 1725"/>
                <a:gd name="T6" fmla="*/ 36 w 1725"/>
                <a:gd name="T7" fmla="*/ 797 h 1725"/>
                <a:gd name="T8" fmla="*/ 36 w 1725"/>
                <a:gd name="T9" fmla="*/ 928 h 1725"/>
                <a:gd name="T10" fmla="*/ 797 w 1725"/>
                <a:gd name="T11" fmla="*/ 1689 h 1725"/>
                <a:gd name="T12" fmla="*/ 928 w 1725"/>
                <a:gd name="T13" fmla="*/ 1689 h 1725"/>
                <a:gd name="T14" fmla="*/ 1689 w 1725"/>
                <a:gd name="T15" fmla="*/ 928 h 1725"/>
                <a:gd name="T16" fmla="*/ 1689 w 1725"/>
                <a:gd name="T17" fmla="*/ 797 h 1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25" h="1725">
                  <a:moveTo>
                    <a:pt x="1689" y="797"/>
                  </a:moveTo>
                  <a:cubicBezTo>
                    <a:pt x="928" y="36"/>
                    <a:pt x="928" y="36"/>
                    <a:pt x="928" y="36"/>
                  </a:cubicBezTo>
                  <a:cubicBezTo>
                    <a:pt x="892" y="0"/>
                    <a:pt x="833" y="0"/>
                    <a:pt x="797" y="36"/>
                  </a:cubicBezTo>
                  <a:cubicBezTo>
                    <a:pt x="36" y="797"/>
                    <a:pt x="36" y="797"/>
                    <a:pt x="36" y="797"/>
                  </a:cubicBezTo>
                  <a:cubicBezTo>
                    <a:pt x="0" y="833"/>
                    <a:pt x="0" y="892"/>
                    <a:pt x="36" y="928"/>
                  </a:cubicBezTo>
                  <a:cubicBezTo>
                    <a:pt x="797" y="1689"/>
                    <a:pt x="797" y="1689"/>
                    <a:pt x="797" y="1689"/>
                  </a:cubicBezTo>
                  <a:cubicBezTo>
                    <a:pt x="833" y="1725"/>
                    <a:pt x="892" y="1725"/>
                    <a:pt x="928" y="1689"/>
                  </a:cubicBezTo>
                  <a:cubicBezTo>
                    <a:pt x="1689" y="928"/>
                    <a:pt x="1689" y="928"/>
                    <a:pt x="1689" y="928"/>
                  </a:cubicBezTo>
                  <a:cubicBezTo>
                    <a:pt x="1725" y="892"/>
                    <a:pt x="1725" y="833"/>
                    <a:pt x="1689" y="797"/>
                  </a:cubicBezTo>
                  <a:close/>
                </a:path>
              </a:pathLst>
            </a:custGeom>
            <a:solidFill>
              <a:srgbClr val="D1D0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9"/>
            <p:cNvSpPr/>
            <p:nvPr userDrawn="1"/>
          </p:nvSpPr>
          <p:spPr bwMode="auto">
            <a:xfrm>
              <a:off x="3501" y="1898"/>
              <a:ext cx="973" cy="973"/>
            </a:xfrm>
            <a:custGeom>
              <a:avLst/>
              <a:gdLst>
                <a:gd name="T0" fmla="*/ 1163 w 1199"/>
                <a:gd name="T1" fmla="*/ 535 h 1199"/>
                <a:gd name="T2" fmla="*/ 664 w 1199"/>
                <a:gd name="T3" fmla="*/ 36 h 1199"/>
                <a:gd name="T4" fmla="*/ 534 w 1199"/>
                <a:gd name="T5" fmla="*/ 36 h 1199"/>
                <a:gd name="T6" fmla="*/ 36 w 1199"/>
                <a:gd name="T7" fmla="*/ 535 h 1199"/>
                <a:gd name="T8" fmla="*/ 36 w 1199"/>
                <a:gd name="T9" fmla="*/ 665 h 1199"/>
                <a:gd name="T10" fmla="*/ 534 w 1199"/>
                <a:gd name="T11" fmla="*/ 1163 h 1199"/>
                <a:gd name="T12" fmla="*/ 664 w 1199"/>
                <a:gd name="T13" fmla="*/ 1163 h 1199"/>
                <a:gd name="T14" fmla="*/ 1163 w 1199"/>
                <a:gd name="T15" fmla="*/ 665 h 1199"/>
                <a:gd name="T16" fmla="*/ 1163 w 1199"/>
                <a:gd name="T17" fmla="*/ 535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9" h="1199">
                  <a:moveTo>
                    <a:pt x="1163" y="535"/>
                  </a:moveTo>
                  <a:cubicBezTo>
                    <a:pt x="664" y="36"/>
                    <a:pt x="664" y="36"/>
                    <a:pt x="664" y="36"/>
                  </a:cubicBezTo>
                  <a:cubicBezTo>
                    <a:pt x="628" y="0"/>
                    <a:pt x="570" y="0"/>
                    <a:pt x="534" y="36"/>
                  </a:cubicBezTo>
                  <a:cubicBezTo>
                    <a:pt x="36" y="535"/>
                    <a:pt x="36" y="535"/>
                    <a:pt x="36" y="535"/>
                  </a:cubicBezTo>
                  <a:cubicBezTo>
                    <a:pt x="0" y="571"/>
                    <a:pt x="0" y="629"/>
                    <a:pt x="36" y="665"/>
                  </a:cubicBezTo>
                  <a:cubicBezTo>
                    <a:pt x="534" y="1163"/>
                    <a:pt x="534" y="1163"/>
                    <a:pt x="534" y="1163"/>
                  </a:cubicBezTo>
                  <a:cubicBezTo>
                    <a:pt x="570" y="1199"/>
                    <a:pt x="628" y="1199"/>
                    <a:pt x="664" y="1163"/>
                  </a:cubicBezTo>
                  <a:cubicBezTo>
                    <a:pt x="1163" y="665"/>
                    <a:pt x="1163" y="665"/>
                    <a:pt x="1163" y="665"/>
                  </a:cubicBezTo>
                  <a:cubicBezTo>
                    <a:pt x="1199" y="629"/>
                    <a:pt x="1199" y="571"/>
                    <a:pt x="1163" y="535"/>
                  </a:cubicBezTo>
                  <a:close/>
                </a:path>
              </a:pathLst>
            </a:custGeom>
            <a:solidFill>
              <a:srgbClr val="BAB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10"/>
            <p:cNvSpPr/>
            <p:nvPr userDrawn="1"/>
          </p:nvSpPr>
          <p:spPr bwMode="auto">
            <a:xfrm>
              <a:off x="4180" y="1355"/>
              <a:ext cx="734" cy="734"/>
            </a:xfrm>
            <a:custGeom>
              <a:avLst/>
              <a:gdLst>
                <a:gd name="T0" fmla="*/ 869 w 905"/>
                <a:gd name="T1" fmla="*/ 388 h 905"/>
                <a:gd name="T2" fmla="*/ 517 w 905"/>
                <a:gd name="T3" fmla="*/ 36 h 905"/>
                <a:gd name="T4" fmla="*/ 387 w 905"/>
                <a:gd name="T5" fmla="*/ 36 h 905"/>
                <a:gd name="T6" fmla="*/ 35 w 905"/>
                <a:gd name="T7" fmla="*/ 388 h 905"/>
                <a:gd name="T8" fmla="*/ 35 w 905"/>
                <a:gd name="T9" fmla="*/ 518 h 905"/>
                <a:gd name="T10" fmla="*/ 387 w 905"/>
                <a:gd name="T11" fmla="*/ 869 h 905"/>
                <a:gd name="T12" fmla="*/ 517 w 905"/>
                <a:gd name="T13" fmla="*/ 869 h 905"/>
                <a:gd name="T14" fmla="*/ 869 w 905"/>
                <a:gd name="T15" fmla="*/ 518 h 905"/>
                <a:gd name="T16" fmla="*/ 869 w 905"/>
                <a:gd name="T17" fmla="*/ 388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5" h="905">
                  <a:moveTo>
                    <a:pt x="869" y="388"/>
                  </a:moveTo>
                  <a:cubicBezTo>
                    <a:pt x="517" y="36"/>
                    <a:pt x="517" y="36"/>
                    <a:pt x="517" y="36"/>
                  </a:cubicBezTo>
                  <a:cubicBezTo>
                    <a:pt x="481" y="0"/>
                    <a:pt x="423" y="0"/>
                    <a:pt x="387" y="36"/>
                  </a:cubicBezTo>
                  <a:cubicBezTo>
                    <a:pt x="35" y="388"/>
                    <a:pt x="35" y="388"/>
                    <a:pt x="35" y="388"/>
                  </a:cubicBezTo>
                  <a:cubicBezTo>
                    <a:pt x="0" y="424"/>
                    <a:pt x="0" y="482"/>
                    <a:pt x="35" y="518"/>
                  </a:cubicBezTo>
                  <a:cubicBezTo>
                    <a:pt x="387" y="869"/>
                    <a:pt x="387" y="869"/>
                    <a:pt x="387" y="869"/>
                  </a:cubicBezTo>
                  <a:cubicBezTo>
                    <a:pt x="423" y="905"/>
                    <a:pt x="481" y="905"/>
                    <a:pt x="517" y="869"/>
                  </a:cubicBezTo>
                  <a:cubicBezTo>
                    <a:pt x="869" y="518"/>
                    <a:pt x="869" y="518"/>
                    <a:pt x="869" y="518"/>
                  </a:cubicBezTo>
                  <a:cubicBezTo>
                    <a:pt x="905" y="482"/>
                    <a:pt x="905" y="424"/>
                    <a:pt x="869" y="388"/>
                  </a:cubicBezTo>
                  <a:close/>
                </a:path>
              </a:pathLst>
            </a:custGeom>
            <a:solidFill>
              <a:srgbClr val="5AAD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11"/>
            <p:cNvSpPr/>
            <p:nvPr userDrawn="1"/>
          </p:nvSpPr>
          <p:spPr bwMode="auto">
            <a:xfrm>
              <a:off x="3450" y="443"/>
              <a:ext cx="439" cy="439"/>
            </a:xfrm>
            <a:custGeom>
              <a:avLst/>
              <a:gdLst>
                <a:gd name="T0" fmla="*/ 505 w 541"/>
                <a:gd name="T1" fmla="*/ 205 h 541"/>
                <a:gd name="T2" fmla="*/ 336 w 541"/>
                <a:gd name="T3" fmla="*/ 36 h 541"/>
                <a:gd name="T4" fmla="*/ 205 w 541"/>
                <a:gd name="T5" fmla="*/ 36 h 541"/>
                <a:gd name="T6" fmla="*/ 36 w 541"/>
                <a:gd name="T7" fmla="*/ 205 h 541"/>
                <a:gd name="T8" fmla="*/ 36 w 541"/>
                <a:gd name="T9" fmla="*/ 335 h 541"/>
                <a:gd name="T10" fmla="*/ 205 w 541"/>
                <a:gd name="T11" fmla="*/ 505 h 541"/>
                <a:gd name="T12" fmla="*/ 336 w 541"/>
                <a:gd name="T13" fmla="*/ 505 h 541"/>
                <a:gd name="T14" fmla="*/ 505 w 541"/>
                <a:gd name="T15" fmla="*/ 335 h 541"/>
                <a:gd name="T16" fmla="*/ 505 w 541"/>
                <a:gd name="T17" fmla="*/ 205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1" h="541">
                  <a:moveTo>
                    <a:pt x="505" y="205"/>
                  </a:moveTo>
                  <a:cubicBezTo>
                    <a:pt x="336" y="36"/>
                    <a:pt x="336" y="36"/>
                    <a:pt x="336" y="36"/>
                  </a:cubicBezTo>
                  <a:cubicBezTo>
                    <a:pt x="300" y="0"/>
                    <a:pt x="241" y="0"/>
                    <a:pt x="205" y="36"/>
                  </a:cubicBezTo>
                  <a:cubicBezTo>
                    <a:pt x="36" y="205"/>
                    <a:pt x="36" y="205"/>
                    <a:pt x="36" y="205"/>
                  </a:cubicBezTo>
                  <a:cubicBezTo>
                    <a:pt x="0" y="241"/>
                    <a:pt x="0" y="299"/>
                    <a:pt x="36" y="335"/>
                  </a:cubicBezTo>
                  <a:cubicBezTo>
                    <a:pt x="205" y="505"/>
                    <a:pt x="205" y="505"/>
                    <a:pt x="205" y="505"/>
                  </a:cubicBezTo>
                  <a:cubicBezTo>
                    <a:pt x="241" y="541"/>
                    <a:pt x="300" y="541"/>
                    <a:pt x="336" y="505"/>
                  </a:cubicBezTo>
                  <a:cubicBezTo>
                    <a:pt x="505" y="335"/>
                    <a:pt x="505" y="335"/>
                    <a:pt x="505" y="335"/>
                  </a:cubicBezTo>
                  <a:cubicBezTo>
                    <a:pt x="541" y="299"/>
                    <a:pt x="541" y="241"/>
                    <a:pt x="505" y="205"/>
                  </a:cubicBezTo>
                  <a:close/>
                </a:path>
              </a:pathLst>
            </a:custGeom>
            <a:solidFill>
              <a:srgbClr val="393A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13"/>
            <p:cNvSpPr/>
            <p:nvPr userDrawn="1"/>
          </p:nvSpPr>
          <p:spPr bwMode="auto">
            <a:xfrm>
              <a:off x="3827" y="1514"/>
              <a:ext cx="673" cy="673"/>
            </a:xfrm>
            <a:custGeom>
              <a:avLst/>
              <a:gdLst>
                <a:gd name="T0" fmla="*/ 793 w 829"/>
                <a:gd name="T1" fmla="*/ 350 h 830"/>
                <a:gd name="T2" fmla="*/ 480 w 829"/>
                <a:gd name="T3" fmla="*/ 36 h 830"/>
                <a:gd name="T4" fmla="*/ 349 w 829"/>
                <a:gd name="T5" fmla="*/ 36 h 830"/>
                <a:gd name="T6" fmla="*/ 36 w 829"/>
                <a:gd name="T7" fmla="*/ 350 h 830"/>
                <a:gd name="T8" fmla="*/ 36 w 829"/>
                <a:gd name="T9" fmla="*/ 480 h 830"/>
                <a:gd name="T10" fmla="*/ 349 w 829"/>
                <a:gd name="T11" fmla="*/ 794 h 830"/>
                <a:gd name="T12" fmla="*/ 480 w 829"/>
                <a:gd name="T13" fmla="*/ 794 h 830"/>
                <a:gd name="T14" fmla="*/ 793 w 829"/>
                <a:gd name="T15" fmla="*/ 480 h 830"/>
                <a:gd name="T16" fmla="*/ 793 w 829"/>
                <a:gd name="T17" fmla="*/ 350 h 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29" h="830">
                  <a:moveTo>
                    <a:pt x="793" y="350"/>
                  </a:moveTo>
                  <a:cubicBezTo>
                    <a:pt x="480" y="36"/>
                    <a:pt x="480" y="36"/>
                    <a:pt x="480" y="36"/>
                  </a:cubicBezTo>
                  <a:cubicBezTo>
                    <a:pt x="444" y="0"/>
                    <a:pt x="385" y="0"/>
                    <a:pt x="349" y="36"/>
                  </a:cubicBezTo>
                  <a:cubicBezTo>
                    <a:pt x="36" y="350"/>
                    <a:pt x="36" y="350"/>
                    <a:pt x="36" y="350"/>
                  </a:cubicBezTo>
                  <a:cubicBezTo>
                    <a:pt x="0" y="386"/>
                    <a:pt x="0" y="444"/>
                    <a:pt x="36" y="480"/>
                  </a:cubicBezTo>
                  <a:cubicBezTo>
                    <a:pt x="349" y="794"/>
                    <a:pt x="349" y="794"/>
                    <a:pt x="349" y="794"/>
                  </a:cubicBezTo>
                  <a:cubicBezTo>
                    <a:pt x="385" y="830"/>
                    <a:pt x="444" y="830"/>
                    <a:pt x="480" y="794"/>
                  </a:cubicBezTo>
                  <a:cubicBezTo>
                    <a:pt x="793" y="480"/>
                    <a:pt x="793" y="480"/>
                    <a:pt x="793" y="480"/>
                  </a:cubicBezTo>
                  <a:cubicBezTo>
                    <a:pt x="829" y="444"/>
                    <a:pt x="829" y="386"/>
                    <a:pt x="793" y="350"/>
                  </a:cubicBezTo>
                  <a:close/>
                </a:path>
              </a:pathLst>
            </a:custGeom>
            <a:noFill/>
            <a:ln w="9525" cap="flat">
              <a:solidFill>
                <a:srgbClr val="393A45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"/>
          <p:cNvGrpSpPr>
            <a:grpSpLocks noChangeAspect="1"/>
          </p:cNvGrpSpPr>
          <p:nvPr userDrawn="1"/>
        </p:nvGrpSpPr>
        <p:grpSpPr bwMode="auto">
          <a:xfrm>
            <a:off x="8211843" y="-109702"/>
            <a:ext cx="1568503" cy="1688088"/>
            <a:chOff x="3440" y="443"/>
            <a:chExt cx="2256" cy="2428"/>
          </a:xfrm>
        </p:grpSpPr>
        <p:sp>
          <p:nvSpPr>
            <p:cNvPr id="6" name="Freeform 5"/>
            <p:cNvSpPr/>
            <p:nvPr userDrawn="1"/>
          </p:nvSpPr>
          <p:spPr bwMode="auto">
            <a:xfrm>
              <a:off x="3440" y="474"/>
              <a:ext cx="1037" cy="1037"/>
            </a:xfrm>
            <a:custGeom>
              <a:avLst/>
              <a:gdLst>
                <a:gd name="T0" fmla="*/ 1241 w 1277"/>
                <a:gd name="T1" fmla="*/ 574 h 1277"/>
                <a:gd name="T2" fmla="*/ 704 w 1277"/>
                <a:gd name="T3" fmla="*/ 36 h 1277"/>
                <a:gd name="T4" fmla="*/ 573 w 1277"/>
                <a:gd name="T5" fmla="*/ 36 h 1277"/>
                <a:gd name="T6" fmla="*/ 36 w 1277"/>
                <a:gd name="T7" fmla="*/ 574 h 1277"/>
                <a:gd name="T8" fmla="*/ 36 w 1277"/>
                <a:gd name="T9" fmla="*/ 704 h 1277"/>
                <a:gd name="T10" fmla="*/ 573 w 1277"/>
                <a:gd name="T11" fmla="*/ 1241 h 1277"/>
                <a:gd name="T12" fmla="*/ 704 w 1277"/>
                <a:gd name="T13" fmla="*/ 1241 h 1277"/>
                <a:gd name="T14" fmla="*/ 1241 w 1277"/>
                <a:gd name="T15" fmla="*/ 704 h 1277"/>
                <a:gd name="T16" fmla="*/ 1241 w 1277"/>
                <a:gd name="T17" fmla="*/ 574 h 1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77" h="1277">
                  <a:moveTo>
                    <a:pt x="1241" y="574"/>
                  </a:moveTo>
                  <a:cubicBezTo>
                    <a:pt x="704" y="36"/>
                    <a:pt x="704" y="36"/>
                    <a:pt x="704" y="36"/>
                  </a:cubicBezTo>
                  <a:cubicBezTo>
                    <a:pt x="668" y="0"/>
                    <a:pt x="609" y="0"/>
                    <a:pt x="573" y="36"/>
                  </a:cubicBezTo>
                  <a:cubicBezTo>
                    <a:pt x="36" y="574"/>
                    <a:pt x="36" y="574"/>
                    <a:pt x="36" y="574"/>
                  </a:cubicBezTo>
                  <a:cubicBezTo>
                    <a:pt x="0" y="610"/>
                    <a:pt x="0" y="668"/>
                    <a:pt x="36" y="704"/>
                  </a:cubicBezTo>
                  <a:cubicBezTo>
                    <a:pt x="573" y="1241"/>
                    <a:pt x="573" y="1241"/>
                    <a:pt x="573" y="1241"/>
                  </a:cubicBezTo>
                  <a:cubicBezTo>
                    <a:pt x="609" y="1277"/>
                    <a:pt x="668" y="1277"/>
                    <a:pt x="704" y="1241"/>
                  </a:cubicBezTo>
                  <a:cubicBezTo>
                    <a:pt x="1241" y="704"/>
                    <a:pt x="1241" y="704"/>
                    <a:pt x="1241" y="704"/>
                  </a:cubicBezTo>
                  <a:cubicBezTo>
                    <a:pt x="1277" y="668"/>
                    <a:pt x="1277" y="610"/>
                    <a:pt x="1241" y="574"/>
                  </a:cubicBezTo>
                  <a:close/>
                </a:path>
              </a:pathLst>
            </a:custGeom>
            <a:solidFill>
              <a:srgbClr val="D1D0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Freeform 6"/>
            <p:cNvSpPr/>
            <p:nvPr userDrawn="1"/>
          </p:nvSpPr>
          <p:spPr bwMode="auto">
            <a:xfrm>
              <a:off x="4296" y="676"/>
              <a:ext cx="1400" cy="1400"/>
            </a:xfrm>
            <a:custGeom>
              <a:avLst/>
              <a:gdLst>
                <a:gd name="T0" fmla="*/ 1689 w 1725"/>
                <a:gd name="T1" fmla="*/ 797 h 1725"/>
                <a:gd name="T2" fmla="*/ 928 w 1725"/>
                <a:gd name="T3" fmla="*/ 36 h 1725"/>
                <a:gd name="T4" fmla="*/ 797 w 1725"/>
                <a:gd name="T5" fmla="*/ 36 h 1725"/>
                <a:gd name="T6" fmla="*/ 36 w 1725"/>
                <a:gd name="T7" fmla="*/ 797 h 1725"/>
                <a:gd name="T8" fmla="*/ 36 w 1725"/>
                <a:gd name="T9" fmla="*/ 928 h 1725"/>
                <a:gd name="T10" fmla="*/ 797 w 1725"/>
                <a:gd name="T11" fmla="*/ 1689 h 1725"/>
                <a:gd name="T12" fmla="*/ 928 w 1725"/>
                <a:gd name="T13" fmla="*/ 1689 h 1725"/>
                <a:gd name="T14" fmla="*/ 1689 w 1725"/>
                <a:gd name="T15" fmla="*/ 928 h 1725"/>
                <a:gd name="T16" fmla="*/ 1689 w 1725"/>
                <a:gd name="T17" fmla="*/ 797 h 1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25" h="1725">
                  <a:moveTo>
                    <a:pt x="1689" y="797"/>
                  </a:moveTo>
                  <a:cubicBezTo>
                    <a:pt x="928" y="36"/>
                    <a:pt x="928" y="36"/>
                    <a:pt x="928" y="36"/>
                  </a:cubicBezTo>
                  <a:cubicBezTo>
                    <a:pt x="892" y="0"/>
                    <a:pt x="833" y="0"/>
                    <a:pt x="797" y="36"/>
                  </a:cubicBezTo>
                  <a:cubicBezTo>
                    <a:pt x="36" y="797"/>
                    <a:pt x="36" y="797"/>
                    <a:pt x="36" y="797"/>
                  </a:cubicBezTo>
                  <a:cubicBezTo>
                    <a:pt x="0" y="833"/>
                    <a:pt x="0" y="892"/>
                    <a:pt x="36" y="928"/>
                  </a:cubicBezTo>
                  <a:cubicBezTo>
                    <a:pt x="797" y="1689"/>
                    <a:pt x="797" y="1689"/>
                    <a:pt x="797" y="1689"/>
                  </a:cubicBezTo>
                  <a:cubicBezTo>
                    <a:pt x="833" y="1725"/>
                    <a:pt x="892" y="1725"/>
                    <a:pt x="928" y="1689"/>
                  </a:cubicBezTo>
                  <a:cubicBezTo>
                    <a:pt x="1689" y="928"/>
                    <a:pt x="1689" y="928"/>
                    <a:pt x="1689" y="928"/>
                  </a:cubicBezTo>
                  <a:cubicBezTo>
                    <a:pt x="1725" y="892"/>
                    <a:pt x="1725" y="833"/>
                    <a:pt x="1689" y="797"/>
                  </a:cubicBezTo>
                  <a:close/>
                </a:path>
              </a:pathLst>
            </a:custGeom>
            <a:solidFill>
              <a:srgbClr val="D1D0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9"/>
            <p:cNvSpPr/>
            <p:nvPr userDrawn="1"/>
          </p:nvSpPr>
          <p:spPr bwMode="auto">
            <a:xfrm>
              <a:off x="3501" y="1898"/>
              <a:ext cx="973" cy="973"/>
            </a:xfrm>
            <a:custGeom>
              <a:avLst/>
              <a:gdLst>
                <a:gd name="T0" fmla="*/ 1163 w 1199"/>
                <a:gd name="T1" fmla="*/ 535 h 1199"/>
                <a:gd name="T2" fmla="*/ 664 w 1199"/>
                <a:gd name="T3" fmla="*/ 36 h 1199"/>
                <a:gd name="T4" fmla="*/ 534 w 1199"/>
                <a:gd name="T5" fmla="*/ 36 h 1199"/>
                <a:gd name="T6" fmla="*/ 36 w 1199"/>
                <a:gd name="T7" fmla="*/ 535 h 1199"/>
                <a:gd name="T8" fmla="*/ 36 w 1199"/>
                <a:gd name="T9" fmla="*/ 665 h 1199"/>
                <a:gd name="T10" fmla="*/ 534 w 1199"/>
                <a:gd name="T11" fmla="*/ 1163 h 1199"/>
                <a:gd name="T12" fmla="*/ 664 w 1199"/>
                <a:gd name="T13" fmla="*/ 1163 h 1199"/>
                <a:gd name="T14" fmla="*/ 1163 w 1199"/>
                <a:gd name="T15" fmla="*/ 665 h 1199"/>
                <a:gd name="T16" fmla="*/ 1163 w 1199"/>
                <a:gd name="T17" fmla="*/ 535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9" h="1199">
                  <a:moveTo>
                    <a:pt x="1163" y="535"/>
                  </a:moveTo>
                  <a:cubicBezTo>
                    <a:pt x="664" y="36"/>
                    <a:pt x="664" y="36"/>
                    <a:pt x="664" y="36"/>
                  </a:cubicBezTo>
                  <a:cubicBezTo>
                    <a:pt x="628" y="0"/>
                    <a:pt x="570" y="0"/>
                    <a:pt x="534" y="36"/>
                  </a:cubicBezTo>
                  <a:cubicBezTo>
                    <a:pt x="36" y="535"/>
                    <a:pt x="36" y="535"/>
                    <a:pt x="36" y="535"/>
                  </a:cubicBezTo>
                  <a:cubicBezTo>
                    <a:pt x="0" y="571"/>
                    <a:pt x="0" y="629"/>
                    <a:pt x="36" y="665"/>
                  </a:cubicBezTo>
                  <a:cubicBezTo>
                    <a:pt x="534" y="1163"/>
                    <a:pt x="534" y="1163"/>
                    <a:pt x="534" y="1163"/>
                  </a:cubicBezTo>
                  <a:cubicBezTo>
                    <a:pt x="570" y="1199"/>
                    <a:pt x="628" y="1199"/>
                    <a:pt x="664" y="1163"/>
                  </a:cubicBezTo>
                  <a:cubicBezTo>
                    <a:pt x="1163" y="665"/>
                    <a:pt x="1163" y="665"/>
                    <a:pt x="1163" y="665"/>
                  </a:cubicBezTo>
                  <a:cubicBezTo>
                    <a:pt x="1199" y="629"/>
                    <a:pt x="1199" y="571"/>
                    <a:pt x="1163" y="535"/>
                  </a:cubicBezTo>
                  <a:close/>
                </a:path>
              </a:pathLst>
            </a:custGeom>
            <a:solidFill>
              <a:srgbClr val="BAB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10"/>
            <p:cNvSpPr/>
            <p:nvPr userDrawn="1"/>
          </p:nvSpPr>
          <p:spPr bwMode="auto">
            <a:xfrm>
              <a:off x="4180" y="1355"/>
              <a:ext cx="734" cy="734"/>
            </a:xfrm>
            <a:custGeom>
              <a:avLst/>
              <a:gdLst>
                <a:gd name="T0" fmla="*/ 869 w 905"/>
                <a:gd name="T1" fmla="*/ 388 h 905"/>
                <a:gd name="T2" fmla="*/ 517 w 905"/>
                <a:gd name="T3" fmla="*/ 36 h 905"/>
                <a:gd name="T4" fmla="*/ 387 w 905"/>
                <a:gd name="T5" fmla="*/ 36 h 905"/>
                <a:gd name="T6" fmla="*/ 35 w 905"/>
                <a:gd name="T7" fmla="*/ 388 h 905"/>
                <a:gd name="T8" fmla="*/ 35 w 905"/>
                <a:gd name="T9" fmla="*/ 518 h 905"/>
                <a:gd name="T10" fmla="*/ 387 w 905"/>
                <a:gd name="T11" fmla="*/ 869 h 905"/>
                <a:gd name="T12" fmla="*/ 517 w 905"/>
                <a:gd name="T13" fmla="*/ 869 h 905"/>
                <a:gd name="T14" fmla="*/ 869 w 905"/>
                <a:gd name="T15" fmla="*/ 518 h 905"/>
                <a:gd name="T16" fmla="*/ 869 w 905"/>
                <a:gd name="T17" fmla="*/ 388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5" h="905">
                  <a:moveTo>
                    <a:pt x="869" y="388"/>
                  </a:moveTo>
                  <a:cubicBezTo>
                    <a:pt x="517" y="36"/>
                    <a:pt x="517" y="36"/>
                    <a:pt x="517" y="36"/>
                  </a:cubicBezTo>
                  <a:cubicBezTo>
                    <a:pt x="481" y="0"/>
                    <a:pt x="423" y="0"/>
                    <a:pt x="387" y="36"/>
                  </a:cubicBezTo>
                  <a:cubicBezTo>
                    <a:pt x="35" y="388"/>
                    <a:pt x="35" y="388"/>
                    <a:pt x="35" y="388"/>
                  </a:cubicBezTo>
                  <a:cubicBezTo>
                    <a:pt x="0" y="424"/>
                    <a:pt x="0" y="482"/>
                    <a:pt x="35" y="518"/>
                  </a:cubicBezTo>
                  <a:cubicBezTo>
                    <a:pt x="387" y="869"/>
                    <a:pt x="387" y="869"/>
                    <a:pt x="387" y="869"/>
                  </a:cubicBezTo>
                  <a:cubicBezTo>
                    <a:pt x="423" y="905"/>
                    <a:pt x="481" y="905"/>
                    <a:pt x="517" y="869"/>
                  </a:cubicBezTo>
                  <a:cubicBezTo>
                    <a:pt x="869" y="518"/>
                    <a:pt x="869" y="518"/>
                    <a:pt x="869" y="518"/>
                  </a:cubicBezTo>
                  <a:cubicBezTo>
                    <a:pt x="905" y="482"/>
                    <a:pt x="905" y="424"/>
                    <a:pt x="869" y="388"/>
                  </a:cubicBezTo>
                  <a:close/>
                </a:path>
              </a:pathLst>
            </a:custGeom>
            <a:solidFill>
              <a:srgbClr val="5AAD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11"/>
            <p:cNvSpPr/>
            <p:nvPr userDrawn="1"/>
          </p:nvSpPr>
          <p:spPr bwMode="auto">
            <a:xfrm>
              <a:off x="3450" y="443"/>
              <a:ext cx="439" cy="439"/>
            </a:xfrm>
            <a:custGeom>
              <a:avLst/>
              <a:gdLst>
                <a:gd name="T0" fmla="*/ 505 w 541"/>
                <a:gd name="T1" fmla="*/ 205 h 541"/>
                <a:gd name="T2" fmla="*/ 336 w 541"/>
                <a:gd name="T3" fmla="*/ 36 h 541"/>
                <a:gd name="T4" fmla="*/ 205 w 541"/>
                <a:gd name="T5" fmla="*/ 36 h 541"/>
                <a:gd name="T6" fmla="*/ 36 w 541"/>
                <a:gd name="T7" fmla="*/ 205 h 541"/>
                <a:gd name="T8" fmla="*/ 36 w 541"/>
                <a:gd name="T9" fmla="*/ 335 h 541"/>
                <a:gd name="T10" fmla="*/ 205 w 541"/>
                <a:gd name="T11" fmla="*/ 505 h 541"/>
                <a:gd name="T12" fmla="*/ 336 w 541"/>
                <a:gd name="T13" fmla="*/ 505 h 541"/>
                <a:gd name="T14" fmla="*/ 505 w 541"/>
                <a:gd name="T15" fmla="*/ 335 h 541"/>
                <a:gd name="T16" fmla="*/ 505 w 541"/>
                <a:gd name="T17" fmla="*/ 205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1" h="541">
                  <a:moveTo>
                    <a:pt x="505" y="205"/>
                  </a:moveTo>
                  <a:cubicBezTo>
                    <a:pt x="336" y="36"/>
                    <a:pt x="336" y="36"/>
                    <a:pt x="336" y="36"/>
                  </a:cubicBezTo>
                  <a:cubicBezTo>
                    <a:pt x="300" y="0"/>
                    <a:pt x="241" y="0"/>
                    <a:pt x="205" y="36"/>
                  </a:cubicBezTo>
                  <a:cubicBezTo>
                    <a:pt x="36" y="205"/>
                    <a:pt x="36" y="205"/>
                    <a:pt x="36" y="205"/>
                  </a:cubicBezTo>
                  <a:cubicBezTo>
                    <a:pt x="0" y="241"/>
                    <a:pt x="0" y="299"/>
                    <a:pt x="36" y="335"/>
                  </a:cubicBezTo>
                  <a:cubicBezTo>
                    <a:pt x="205" y="505"/>
                    <a:pt x="205" y="505"/>
                    <a:pt x="205" y="505"/>
                  </a:cubicBezTo>
                  <a:cubicBezTo>
                    <a:pt x="241" y="541"/>
                    <a:pt x="300" y="541"/>
                    <a:pt x="336" y="505"/>
                  </a:cubicBezTo>
                  <a:cubicBezTo>
                    <a:pt x="505" y="335"/>
                    <a:pt x="505" y="335"/>
                    <a:pt x="505" y="335"/>
                  </a:cubicBezTo>
                  <a:cubicBezTo>
                    <a:pt x="541" y="299"/>
                    <a:pt x="541" y="241"/>
                    <a:pt x="505" y="205"/>
                  </a:cubicBezTo>
                  <a:close/>
                </a:path>
              </a:pathLst>
            </a:custGeom>
            <a:solidFill>
              <a:srgbClr val="393A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13"/>
            <p:cNvSpPr/>
            <p:nvPr userDrawn="1"/>
          </p:nvSpPr>
          <p:spPr bwMode="auto">
            <a:xfrm>
              <a:off x="3827" y="1514"/>
              <a:ext cx="673" cy="673"/>
            </a:xfrm>
            <a:custGeom>
              <a:avLst/>
              <a:gdLst>
                <a:gd name="T0" fmla="*/ 793 w 829"/>
                <a:gd name="T1" fmla="*/ 350 h 830"/>
                <a:gd name="T2" fmla="*/ 480 w 829"/>
                <a:gd name="T3" fmla="*/ 36 h 830"/>
                <a:gd name="T4" fmla="*/ 349 w 829"/>
                <a:gd name="T5" fmla="*/ 36 h 830"/>
                <a:gd name="T6" fmla="*/ 36 w 829"/>
                <a:gd name="T7" fmla="*/ 350 h 830"/>
                <a:gd name="T8" fmla="*/ 36 w 829"/>
                <a:gd name="T9" fmla="*/ 480 h 830"/>
                <a:gd name="T10" fmla="*/ 349 w 829"/>
                <a:gd name="T11" fmla="*/ 794 h 830"/>
                <a:gd name="T12" fmla="*/ 480 w 829"/>
                <a:gd name="T13" fmla="*/ 794 h 830"/>
                <a:gd name="T14" fmla="*/ 793 w 829"/>
                <a:gd name="T15" fmla="*/ 480 h 830"/>
                <a:gd name="T16" fmla="*/ 793 w 829"/>
                <a:gd name="T17" fmla="*/ 350 h 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29" h="830">
                  <a:moveTo>
                    <a:pt x="793" y="350"/>
                  </a:moveTo>
                  <a:cubicBezTo>
                    <a:pt x="480" y="36"/>
                    <a:pt x="480" y="36"/>
                    <a:pt x="480" y="36"/>
                  </a:cubicBezTo>
                  <a:cubicBezTo>
                    <a:pt x="444" y="0"/>
                    <a:pt x="385" y="0"/>
                    <a:pt x="349" y="36"/>
                  </a:cubicBezTo>
                  <a:cubicBezTo>
                    <a:pt x="36" y="350"/>
                    <a:pt x="36" y="350"/>
                    <a:pt x="36" y="350"/>
                  </a:cubicBezTo>
                  <a:cubicBezTo>
                    <a:pt x="0" y="386"/>
                    <a:pt x="0" y="444"/>
                    <a:pt x="36" y="480"/>
                  </a:cubicBezTo>
                  <a:cubicBezTo>
                    <a:pt x="349" y="794"/>
                    <a:pt x="349" y="794"/>
                    <a:pt x="349" y="794"/>
                  </a:cubicBezTo>
                  <a:cubicBezTo>
                    <a:pt x="385" y="830"/>
                    <a:pt x="444" y="830"/>
                    <a:pt x="480" y="794"/>
                  </a:cubicBezTo>
                  <a:cubicBezTo>
                    <a:pt x="793" y="480"/>
                    <a:pt x="793" y="480"/>
                    <a:pt x="793" y="480"/>
                  </a:cubicBezTo>
                  <a:cubicBezTo>
                    <a:pt x="829" y="444"/>
                    <a:pt x="829" y="386"/>
                    <a:pt x="793" y="350"/>
                  </a:cubicBezTo>
                  <a:close/>
                </a:path>
              </a:pathLst>
            </a:custGeom>
            <a:noFill/>
            <a:ln w="9525" cap="flat">
              <a:solidFill>
                <a:srgbClr val="393A45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9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6515832" y="250488"/>
            <a:ext cx="2405139" cy="1585792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6515832" y="2044919"/>
            <a:ext cx="2405139" cy="292591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3923930" y="250488"/>
            <a:ext cx="2405139" cy="292591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3923929" y="3385042"/>
            <a:ext cx="2405139" cy="1585792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marL="0" lvl="0"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"/>
          <p:cNvGrpSpPr>
            <a:grpSpLocks noChangeAspect="1"/>
          </p:cNvGrpSpPr>
          <p:nvPr userDrawn="1"/>
        </p:nvGrpSpPr>
        <p:grpSpPr bwMode="auto">
          <a:xfrm>
            <a:off x="8211843" y="-109702"/>
            <a:ext cx="1568503" cy="1688088"/>
            <a:chOff x="3440" y="443"/>
            <a:chExt cx="2256" cy="2428"/>
          </a:xfrm>
        </p:grpSpPr>
        <p:sp>
          <p:nvSpPr>
            <p:cNvPr id="6" name="Freeform 5"/>
            <p:cNvSpPr/>
            <p:nvPr userDrawn="1"/>
          </p:nvSpPr>
          <p:spPr bwMode="auto">
            <a:xfrm>
              <a:off x="3440" y="474"/>
              <a:ext cx="1037" cy="1037"/>
            </a:xfrm>
            <a:custGeom>
              <a:avLst/>
              <a:gdLst>
                <a:gd name="T0" fmla="*/ 1241 w 1277"/>
                <a:gd name="T1" fmla="*/ 574 h 1277"/>
                <a:gd name="T2" fmla="*/ 704 w 1277"/>
                <a:gd name="T3" fmla="*/ 36 h 1277"/>
                <a:gd name="T4" fmla="*/ 573 w 1277"/>
                <a:gd name="T5" fmla="*/ 36 h 1277"/>
                <a:gd name="T6" fmla="*/ 36 w 1277"/>
                <a:gd name="T7" fmla="*/ 574 h 1277"/>
                <a:gd name="T8" fmla="*/ 36 w 1277"/>
                <a:gd name="T9" fmla="*/ 704 h 1277"/>
                <a:gd name="T10" fmla="*/ 573 w 1277"/>
                <a:gd name="T11" fmla="*/ 1241 h 1277"/>
                <a:gd name="T12" fmla="*/ 704 w 1277"/>
                <a:gd name="T13" fmla="*/ 1241 h 1277"/>
                <a:gd name="T14" fmla="*/ 1241 w 1277"/>
                <a:gd name="T15" fmla="*/ 704 h 1277"/>
                <a:gd name="T16" fmla="*/ 1241 w 1277"/>
                <a:gd name="T17" fmla="*/ 574 h 1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77" h="1277">
                  <a:moveTo>
                    <a:pt x="1241" y="574"/>
                  </a:moveTo>
                  <a:cubicBezTo>
                    <a:pt x="704" y="36"/>
                    <a:pt x="704" y="36"/>
                    <a:pt x="704" y="36"/>
                  </a:cubicBezTo>
                  <a:cubicBezTo>
                    <a:pt x="668" y="0"/>
                    <a:pt x="609" y="0"/>
                    <a:pt x="573" y="36"/>
                  </a:cubicBezTo>
                  <a:cubicBezTo>
                    <a:pt x="36" y="574"/>
                    <a:pt x="36" y="574"/>
                    <a:pt x="36" y="574"/>
                  </a:cubicBezTo>
                  <a:cubicBezTo>
                    <a:pt x="0" y="610"/>
                    <a:pt x="0" y="668"/>
                    <a:pt x="36" y="704"/>
                  </a:cubicBezTo>
                  <a:cubicBezTo>
                    <a:pt x="573" y="1241"/>
                    <a:pt x="573" y="1241"/>
                    <a:pt x="573" y="1241"/>
                  </a:cubicBezTo>
                  <a:cubicBezTo>
                    <a:pt x="609" y="1277"/>
                    <a:pt x="668" y="1277"/>
                    <a:pt x="704" y="1241"/>
                  </a:cubicBezTo>
                  <a:cubicBezTo>
                    <a:pt x="1241" y="704"/>
                    <a:pt x="1241" y="704"/>
                    <a:pt x="1241" y="704"/>
                  </a:cubicBezTo>
                  <a:cubicBezTo>
                    <a:pt x="1277" y="668"/>
                    <a:pt x="1277" y="610"/>
                    <a:pt x="1241" y="574"/>
                  </a:cubicBezTo>
                  <a:close/>
                </a:path>
              </a:pathLst>
            </a:custGeom>
            <a:solidFill>
              <a:srgbClr val="D1D0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Freeform 6"/>
            <p:cNvSpPr/>
            <p:nvPr userDrawn="1"/>
          </p:nvSpPr>
          <p:spPr bwMode="auto">
            <a:xfrm>
              <a:off x="4296" y="676"/>
              <a:ext cx="1400" cy="1400"/>
            </a:xfrm>
            <a:custGeom>
              <a:avLst/>
              <a:gdLst>
                <a:gd name="T0" fmla="*/ 1689 w 1725"/>
                <a:gd name="T1" fmla="*/ 797 h 1725"/>
                <a:gd name="T2" fmla="*/ 928 w 1725"/>
                <a:gd name="T3" fmla="*/ 36 h 1725"/>
                <a:gd name="T4" fmla="*/ 797 w 1725"/>
                <a:gd name="T5" fmla="*/ 36 h 1725"/>
                <a:gd name="T6" fmla="*/ 36 w 1725"/>
                <a:gd name="T7" fmla="*/ 797 h 1725"/>
                <a:gd name="T8" fmla="*/ 36 w 1725"/>
                <a:gd name="T9" fmla="*/ 928 h 1725"/>
                <a:gd name="T10" fmla="*/ 797 w 1725"/>
                <a:gd name="T11" fmla="*/ 1689 h 1725"/>
                <a:gd name="T12" fmla="*/ 928 w 1725"/>
                <a:gd name="T13" fmla="*/ 1689 h 1725"/>
                <a:gd name="T14" fmla="*/ 1689 w 1725"/>
                <a:gd name="T15" fmla="*/ 928 h 1725"/>
                <a:gd name="T16" fmla="*/ 1689 w 1725"/>
                <a:gd name="T17" fmla="*/ 797 h 1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25" h="1725">
                  <a:moveTo>
                    <a:pt x="1689" y="797"/>
                  </a:moveTo>
                  <a:cubicBezTo>
                    <a:pt x="928" y="36"/>
                    <a:pt x="928" y="36"/>
                    <a:pt x="928" y="36"/>
                  </a:cubicBezTo>
                  <a:cubicBezTo>
                    <a:pt x="892" y="0"/>
                    <a:pt x="833" y="0"/>
                    <a:pt x="797" y="36"/>
                  </a:cubicBezTo>
                  <a:cubicBezTo>
                    <a:pt x="36" y="797"/>
                    <a:pt x="36" y="797"/>
                    <a:pt x="36" y="797"/>
                  </a:cubicBezTo>
                  <a:cubicBezTo>
                    <a:pt x="0" y="833"/>
                    <a:pt x="0" y="892"/>
                    <a:pt x="36" y="928"/>
                  </a:cubicBezTo>
                  <a:cubicBezTo>
                    <a:pt x="797" y="1689"/>
                    <a:pt x="797" y="1689"/>
                    <a:pt x="797" y="1689"/>
                  </a:cubicBezTo>
                  <a:cubicBezTo>
                    <a:pt x="833" y="1725"/>
                    <a:pt x="892" y="1725"/>
                    <a:pt x="928" y="1689"/>
                  </a:cubicBezTo>
                  <a:cubicBezTo>
                    <a:pt x="1689" y="928"/>
                    <a:pt x="1689" y="928"/>
                    <a:pt x="1689" y="928"/>
                  </a:cubicBezTo>
                  <a:cubicBezTo>
                    <a:pt x="1725" y="892"/>
                    <a:pt x="1725" y="833"/>
                    <a:pt x="1689" y="797"/>
                  </a:cubicBezTo>
                  <a:close/>
                </a:path>
              </a:pathLst>
            </a:custGeom>
            <a:solidFill>
              <a:srgbClr val="D1D0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9"/>
            <p:cNvSpPr/>
            <p:nvPr userDrawn="1"/>
          </p:nvSpPr>
          <p:spPr bwMode="auto">
            <a:xfrm>
              <a:off x="3501" y="1898"/>
              <a:ext cx="973" cy="973"/>
            </a:xfrm>
            <a:custGeom>
              <a:avLst/>
              <a:gdLst>
                <a:gd name="T0" fmla="*/ 1163 w 1199"/>
                <a:gd name="T1" fmla="*/ 535 h 1199"/>
                <a:gd name="T2" fmla="*/ 664 w 1199"/>
                <a:gd name="T3" fmla="*/ 36 h 1199"/>
                <a:gd name="T4" fmla="*/ 534 w 1199"/>
                <a:gd name="T5" fmla="*/ 36 h 1199"/>
                <a:gd name="T6" fmla="*/ 36 w 1199"/>
                <a:gd name="T7" fmla="*/ 535 h 1199"/>
                <a:gd name="T8" fmla="*/ 36 w 1199"/>
                <a:gd name="T9" fmla="*/ 665 h 1199"/>
                <a:gd name="T10" fmla="*/ 534 w 1199"/>
                <a:gd name="T11" fmla="*/ 1163 h 1199"/>
                <a:gd name="T12" fmla="*/ 664 w 1199"/>
                <a:gd name="T13" fmla="*/ 1163 h 1199"/>
                <a:gd name="T14" fmla="*/ 1163 w 1199"/>
                <a:gd name="T15" fmla="*/ 665 h 1199"/>
                <a:gd name="T16" fmla="*/ 1163 w 1199"/>
                <a:gd name="T17" fmla="*/ 535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9" h="1199">
                  <a:moveTo>
                    <a:pt x="1163" y="535"/>
                  </a:moveTo>
                  <a:cubicBezTo>
                    <a:pt x="664" y="36"/>
                    <a:pt x="664" y="36"/>
                    <a:pt x="664" y="36"/>
                  </a:cubicBezTo>
                  <a:cubicBezTo>
                    <a:pt x="628" y="0"/>
                    <a:pt x="570" y="0"/>
                    <a:pt x="534" y="36"/>
                  </a:cubicBezTo>
                  <a:cubicBezTo>
                    <a:pt x="36" y="535"/>
                    <a:pt x="36" y="535"/>
                    <a:pt x="36" y="535"/>
                  </a:cubicBezTo>
                  <a:cubicBezTo>
                    <a:pt x="0" y="571"/>
                    <a:pt x="0" y="629"/>
                    <a:pt x="36" y="665"/>
                  </a:cubicBezTo>
                  <a:cubicBezTo>
                    <a:pt x="534" y="1163"/>
                    <a:pt x="534" y="1163"/>
                    <a:pt x="534" y="1163"/>
                  </a:cubicBezTo>
                  <a:cubicBezTo>
                    <a:pt x="570" y="1199"/>
                    <a:pt x="628" y="1199"/>
                    <a:pt x="664" y="1163"/>
                  </a:cubicBezTo>
                  <a:cubicBezTo>
                    <a:pt x="1163" y="665"/>
                    <a:pt x="1163" y="665"/>
                    <a:pt x="1163" y="665"/>
                  </a:cubicBezTo>
                  <a:cubicBezTo>
                    <a:pt x="1199" y="629"/>
                    <a:pt x="1199" y="571"/>
                    <a:pt x="1163" y="535"/>
                  </a:cubicBezTo>
                  <a:close/>
                </a:path>
              </a:pathLst>
            </a:custGeom>
            <a:solidFill>
              <a:srgbClr val="BAB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10"/>
            <p:cNvSpPr/>
            <p:nvPr userDrawn="1"/>
          </p:nvSpPr>
          <p:spPr bwMode="auto">
            <a:xfrm>
              <a:off x="4180" y="1355"/>
              <a:ext cx="734" cy="734"/>
            </a:xfrm>
            <a:custGeom>
              <a:avLst/>
              <a:gdLst>
                <a:gd name="T0" fmla="*/ 869 w 905"/>
                <a:gd name="T1" fmla="*/ 388 h 905"/>
                <a:gd name="T2" fmla="*/ 517 w 905"/>
                <a:gd name="T3" fmla="*/ 36 h 905"/>
                <a:gd name="T4" fmla="*/ 387 w 905"/>
                <a:gd name="T5" fmla="*/ 36 h 905"/>
                <a:gd name="T6" fmla="*/ 35 w 905"/>
                <a:gd name="T7" fmla="*/ 388 h 905"/>
                <a:gd name="T8" fmla="*/ 35 w 905"/>
                <a:gd name="T9" fmla="*/ 518 h 905"/>
                <a:gd name="T10" fmla="*/ 387 w 905"/>
                <a:gd name="T11" fmla="*/ 869 h 905"/>
                <a:gd name="T12" fmla="*/ 517 w 905"/>
                <a:gd name="T13" fmla="*/ 869 h 905"/>
                <a:gd name="T14" fmla="*/ 869 w 905"/>
                <a:gd name="T15" fmla="*/ 518 h 905"/>
                <a:gd name="T16" fmla="*/ 869 w 905"/>
                <a:gd name="T17" fmla="*/ 388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5" h="905">
                  <a:moveTo>
                    <a:pt x="869" y="388"/>
                  </a:moveTo>
                  <a:cubicBezTo>
                    <a:pt x="517" y="36"/>
                    <a:pt x="517" y="36"/>
                    <a:pt x="517" y="36"/>
                  </a:cubicBezTo>
                  <a:cubicBezTo>
                    <a:pt x="481" y="0"/>
                    <a:pt x="423" y="0"/>
                    <a:pt x="387" y="36"/>
                  </a:cubicBezTo>
                  <a:cubicBezTo>
                    <a:pt x="35" y="388"/>
                    <a:pt x="35" y="388"/>
                    <a:pt x="35" y="388"/>
                  </a:cubicBezTo>
                  <a:cubicBezTo>
                    <a:pt x="0" y="424"/>
                    <a:pt x="0" y="482"/>
                    <a:pt x="35" y="518"/>
                  </a:cubicBezTo>
                  <a:cubicBezTo>
                    <a:pt x="387" y="869"/>
                    <a:pt x="387" y="869"/>
                    <a:pt x="387" y="869"/>
                  </a:cubicBezTo>
                  <a:cubicBezTo>
                    <a:pt x="423" y="905"/>
                    <a:pt x="481" y="905"/>
                    <a:pt x="517" y="869"/>
                  </a:cubicBezTo>
                  <a:cubicBezTo>
                    <a:pt x="869" y="518"/>
                    <a:pt x="869" y="518"/>
                    <a:pt x="869" y="518"/>
                  </a:cubicBezTo>
                  <a:cubicBezTo>
                    <a:pt x="905" y="482"/>
                    <a:pt x="905" y="424"/>
                    <a:pt x="869" y="388"/>
                  </a:cubicBezTo>
                  <a:close/>
                </a:path>
              </a:pathLst>
            </a:custGeom>
            <a:solidFill>
              <a:srgbClr val="5AAD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11"/>
            <p:cNvSpPr/>
            <p:nvPr userDrawn="1"/>
          </p:nvSpPr>
          <p:spPr bwMode="auto">
            <a:xfrm>
              <a:off x="3450" y="443"/>
              <a:ext cx="439" cy="439"/>
            </a:xfrm>
            <a:custGeom>
              <a:avLst/>
              <a:gdLst>
                <a:gd name="T0" fmla="*/ 505 w 541"/>
                <a:gd name="T1" fmla="*/ 205 h 541"/>
                <a:gd name="T2" fmla="*/ 336 w 541"/>
                <a:gd name="T3" fmla="*/ 36 h 541"/>
                <a:gd name="T4" fmla="*/ 205 w 541"/>
                <a:gd name="T5" fmla="*/ 36 h 541"/>
                <a:gd name="T6" fmla="*/ 36 w 541"/>
                <a:gd name="T7" fmla="*/ 205 h 541"/>
                <a:gd name="T8" fmla="*/ 36 w 541"/>
                <a:gd name="T9" fmla="*/ 335 h 541"/>
                <a:gd name="T10" fmla="*/ 205 w 541"/>
                <a:gd name="T11" fmla="*/ 505 h 541"/>
                <a:gd name="T12" fmla="*/ 336 w 541"/>
                <a:gd name="T13" fmla="*/ 505 h 541"/>
                <a:gd name="T14" fmla="*/ 505 w 541"/>
                <a:gd name="T15" fmla="*/ 335 h 541"/>
                <a:gd name="T16" fmla="*/ 505 w 541"/>
                <a:gd name="T17" fmla="*/ 205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1" h="541">
                  <a:moveTo>
                    <a:pt x="505" y="205"/>
                  </a:moveTo>
                  <a:cubicBezTo>
                    <a:pt x="336" y="36"/>
                    <a:pt x="336" y="36"/>
                    <a:pt x="336" y="36"/>
                  </a:cubicBezTo>
                  <a:cubicBezTo>
                    <a:pt x="300" y="0"/>
                    <a:pt x="241" y="0"/>
                    <a:pt x="205" y="36"/>
                  </a:cubicBezTo>
                  <a:cubicBezTo>
                    <a:pt x="36" y="205"/>
                    <a:pt x="36" y="205"/>
                    <a:pt x="36" y="205"/>
                  </a:cubicBezTo>
                  <a:cubicBezTo>
                    <a:pt x="0" y="241"/>
                    <a:pt x="0" y="299"/>
                    <a:pt x="36" y="335"/>
                  </a:cubicBezTo>
                  <a:cubicBezTo>
                    <a:pt x="205" y="505"/>
                    <a:pt x="205" y="505"/>
                    <a:pt x="205" y="505"/>
                  </a:cubicBezTo>
                  <a:cubicBezTo>
                    <a:pt x="241" y="541"/>
                    <a:pt x="300" y="541"/>
                    <a:pt x="336" y="505"/>
                  </a:cubicBezTo>
                  <a:cubicBezTo>
                    <a:pt x="505" y="335"/>
                    <a:pt x="505" y="335"/>
                    <a:pt x="505" y="335"/>
                  </a:cubicBezTo>
                  <a:cubicBezTo>
                    <a:pt x="541" y="299"/>
                    <a:pt x="541" y="241"/>
                    <a:pt x="505" y="205"/>
                  </a:cubicBezTo>
                  <a:close/>
                </a:path>
              </a:pathLst>
            </a:custGeom>
            <a:solidFill>
              <a:srgbClr val="393A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13"/>
            <p:cNvSpPr/>
            <p:nvPr userDrawn="1"/>
          </p:nvSpPr>
          <p:spPr bwMode="auto">
            <a:xfrm>
              <a:off x="3827" y="1514"/>
              <a:ext cx="673" cy="673"/>
            </a:xfrm>
            <a:custGeom>
              <a:avLst/>
              <a:gdLst>
                <a:gd name="T0" fmla="*/ 793 w 829"/>
                <a:gd name="T1" fmla="*/ 350 h 830"/>
                <a:gd name="T2" fmla="*/ 480 w 829"/>
                <a:gd name="T3" fmla="*/ 36 h 830"/>
                <a:gd name="T4" fmla="*/ 349 w 829"/>
                <a:gd name="T5" fmla="*/ 36 h 830"/>
                <a:gd name="T6" fmla="*/ 36 w 829"/>
                <a:gd name="T7" fmla="*/ 350 h 830"/>
                <a:gd name="T8" fmla="*/ 36 w 829"/>
                <a:gd name="T9" fmla="*/ 480 h 830"/>
                <a:gd name="T10" fmla="*/ 349 w 829"/>
                <a:gd name="T11" fmla="*/ 794 h 830"/>
                <a:gd name="T12" fmla="*/ 480 w 829"/>
                <a:gd name="T13" fmla="*/ 794 h 830"/>
                <a:gd name="T14" fmla="*/ 793 w 829"/>
                <a:gd name="T15" fmla="*/ 480 h 830"/>
                <a:gd name="T16" fmla="*/ 793 w 829"/>
                <a:gd name="T17" fmla="*/ 350 h 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29" h="830">
                  <a:moveTo>
                    <a:pt x="793" y="350"/>
                  </a:moveTo>
                  <a:cubicBezTo>
                    <a:pt x="480" y="36"/>
                    <a:pt x="480" y="36"/>
                    <a:pt x="480" y="36"/>
                  </a:cubicBezTo>
                  <a:cubicBezTo>
                    <a:pt x="444" y="0"/>
                    <a:pt x="385" y="0"/>
                    <a:pt x="349" y="36"/>
                  </a:cubicBezTo>
                  <a:cubicBezTo>
                    <a:pt x="36" y="350"/>
                    <a:pt x="36" y="350"/>
                    <a:pt x="36" y="350"/>
                  </a:cubicBezTo>
                  <a:cubicBezTo>
                    <a:pt x="0" y="386"/>
                    <a:pt x="0" y="444"/>
                    <a:pt x="36" y="480"/>
                  </a:cubicBezTo>
                  <a:cubicBezTo>
                    <a:pt x="349" y="794"/>
                    <a:pt x="349" y="794"/>
                    <a:pt x="349" y="794"/>
                  </a:cubicBezTo>
                  <a:cubicBezTo>
                    <a:pt x="385" y="830"/>
                    <a:pt x="444" y="830"/>
                    <a:pt x="480" y="794"/>
                  </a:cubicBezTo>
                  <a:cubicBezTo>
                    <a:pt x="793" y="480"/>
                    <a:pt x="793" y="480"/>
                    <a:pt x="793" y="480"/>
                  </a:cubicBezTo>
                  <a:cubicBezTo>
                    <a:pt x="829" y="444"/>
                    <a:pt x="829" y="386"/>
                    <a:pt x="793" y="350"/>
                  </a:cubicBezTo>
                  <a:close/>
                </a:path>
              </a:pathLst>
            </a:custGeom>
            <a:noFill/>
            <a:ln w="9525" cap="flat">
              <a:solidFill>
                <a:srgbClr val="393A45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9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0" y="1204632"/>
            <a:ext cx="3615169" cy="1867042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2" name="矩形 1"/>
          <p:cNvSpPr/>
          <p:nvPr userDrawn="1"/>
        </p:nvSpPr>
        <p:spPr>
          <a:xfrm>
            <a:off x="3615169" y="1204632"/>
            <a:ext cx="5528831" cy="1867042"/>
          </a:xfrm>
          <a:prstGeom prst="rect">
            <a:avLst/>
          </a:prstGeom>
          <a:solidFill>
            <a:srgbClr val="393A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/>
          <a:srcRect l="11207" t="6206" r="11207" b="1620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147955" y="137342"/>
            <a:ext cx="8848091" cy="48688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/>
          <a:srcRect l="11207" t="6206" r="11207" b="1620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47955" y="137342"/>
            <a:ext cx="8848091" cy="48688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0" y="2645923"/>
            <a:ext cx="9144000" cy="24975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175596" y="1407939"/>
            <a:ext cx="2795957" cy="1585792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7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3174021" y="1407939"/>
            <a:ext cx="2795957" cy="1585792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6159010" y="1407939"/>
            <a:ext cx="2795957" cy="1585792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9" name="矩形 8"/>
          <p:cNvSpPr/>
          <p:nvPr userDrawn="1"/>
        </p:nvSpPr>
        <p:spPr>
          <a:xfrm>
            <a:off x="175596" y="3112851"/>
            <a:ext cx="2795957" cy="15461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3147149" y="3121640"/>
            <a:ext cx="2795957" cy="15461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6159009" y="3111166"/>
            <a:ext cx="2795957" cy="15461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 flipH="1">
            <a:off x="-1107440" y="-781878"/>
            <a:ext cx="4813991" cy="6491111"/>
            <a:chOff x="3440" y="-384"/>
            <a:chExt cx="2414" cy="3255"/>
          </a:xfrm>
        </p:grpSpPr>
        <p:sp>
          <p:nvSpPr>
            <p:cNvPr id="7" name="Freeform 5"/>
            <p:cNvSpPr/>
            <p:nvPr userDrawn="1"/>
          </p:nvSpPr>
          <p:spPr bwMode="auto">
            <a:xfrm>
              <a:off x="3440" y="474"/>
              <a:ext cx="1037" cy="1037"/>
            </a:xfrm>
            <a:custGeom>
              <a:avLst/>
              <a:gdLst>
                <a:gd name="T0" fmla="*/ 1241 w 1277"/>
                <a:gd name="T1" fmla="*/ 574 h 1277"/>
                <a:gd name="T2" fmla="*/ 704 w 1277"/>
                <a:gd name="T3" fmla="*/ 36 h 1277"/>
                <a:gd name="T4" fmla="*/ 573 w 1277"/>
                <a:gd name="T5" fmla="*/ 36 h 1277"/>
                <a:gd name="T6" fmla="*/ 36 w 1277"/>
                <a:gd name="T7" fmla="*/ 574 h 1277"/>
                <a:gd name="T8" fmla="*/ 36 w 1277"/>
                <a:gd name="T9" fmla="*/ 704 h 1277"/>
                <a:gd name="T10" fmla="*/ 573 w 1277"/>
                <a:gd name="T11" fmla="*/ 1241 h 1277"/>
                <a:gd name="T12" fmla="*/ 704 w 1277"/>
                <a:gd name="T13" fmla="*/ 1241 h 1277"/>
                <a:gd name="T14" fmla="*/ 1241 w 1277"/>
                <a:gd name="T15" fmla="*/ 704 h 1277"/>
                <a:gd name="T16" fmla="*/ 1241 w 1277"/>
                <a:gd name="T17" fmla="*/ 574 h 1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77" h="1277">
                  <a:moveTo>
                    <a:pt x="1241" y="574"/>
                  </a:moveTo>
                  <a:cubicBezTo>
                    <a:pt x="704" y="36"/>
                    <a:pt x="704" y="36"/>
                    <a:pt x="704" y="36"/>
                  </a:cubicBezTo>
                  <a:cubicBezTo>
                    <a:pt x="668" y="0"/>
                    <a:pt x="609" y="0"/>
                    <a:pt x="573" y="36"/>
                  </a:cubicBezTo>
                  <a:cubicBezTo>
                    <a:pt x="36" y="574"/>
                    <a:pt x="36" y="574"/>
                    <a:pt x="36" y="574"/>
                  </a:cubicBezTo>
                  <a:cubicBezTo>
                    <a:pt x="0" y="610"/>
                    <a:pt x="0" y="668"/>
                    <a:pt x="36" y="704"/>
                  </a:cubicBezTo>
                  <a:cubicBezTo>
                    <a:pt x="573" y="1241"/>
                    <a:pt x="573" y="1241"/>
                    <a:pt x="573" y="1241"/>
                  </a:cubicBezTo>
                  <a:cubicBezTo>
                    <a:pt x="609" y="1277"/>
                    <a:pt x="668" y="1277"/>
                    <a:pt x="704" y="1241"/>
                  </a:cubicBezTo>
                  <a:cubicBezTo>
                    <a:pt x="1241" y="704"/>
                    <a:pt x="1241" y="704"/>
                    <a:pt x="1241" y="704"/>
                  </a:cubicBezTo>
                  <a:cubicBezTo>
                    <a:pt x="1277" y="668"/>
                    <a:pt x="1277" y="610"/>
                    <a:pt x="1241" y="574"/>
                  </a:cubicBezTo>
                  <a:close/>
                </a:path>
              </a:pathLst>
            </a:custGeom>
            <a:solidFill>
              <a:srgbClr val="D1D0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6"/>
            <p:cNvSpPr/>
            <p:nvPr userDrawn="1"/>
          </p:nvSpPr>
          <p:spPr bwMode="auto">
            <a:xfrm>
              <a:off x="4296" y="676"/>
              <a:ext cx="1400" cy="1400"/>
            </a:xfrm>
            <a:custGeom>
              <a:avLst/>
              <a:gdLst>
                <a:gd name="T0" fmla="*/ 1689 w 1725"/>
                <a:gd name="T1" fmla="*/ 797 h 1725"/>
                <a:gd name="T2" fmla="*/ 928 w 1725"/>
                <a:gd name="T3" fmla="*/ 36 h 1725"/>
                <a:gd name="T4" fmla="*/ 797 w 1725"/>
                <a:gd name="T5" fmla="*/ 36 h 1725"/>
                <a:gd name="T6" fmla="*/ 36 w 1725"/>
                <a:gd name="T7" fmla="*/ 797 h 1725"/>
                <a:gd name="T8" fmla="*/ 36 w 1725"/>
                <a:gd name="T9" fmla="*/ 928 h 1725"/>
                <a:gd name="T10" fmla="*/ 797 w 1725"/>
                <a:gd name="T11" fmla="*/ 1689 h 1725"/>
                <a:gd name="T12" fmla="*/ 928 w 1725"/>
                <a:gd name="T13" fmla="*/ 1689 h 1725"/>
                <a:gd name="T14" fmla="*/ 1689 w 1725"/>
                <a:gd name="T15" fmla="*/ 928 h 1725"/>
                <a:gd name="T16" fmla="*/ 1689 w 1725"/>
                <a:gd name="T17" fmla="*/ 797 h 1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25" h="1725">
                  <a:moveTo>
                    <a:pt x="1689" y="797"/>
                  </a:moveTo>
                  <a:cubicBezTo>
                    <a:pt x="928" y="36"/>
                    <a:pt x="928" y="36"/>
                    <a:pt x="928" y="36"/>
                  </a:cubicBezTo>
                  <a:cubicBezTo>
                    <a:pt x="892" y="0"/>
                    <a:pt x="833" y="0"/>
                    <a:pt x="797" y="36"/>
                  </a:cubicBezTo>
                  <a:cubicBezTo>
                    <a:pt x="36" y="797"/>
                    <a:pt x="36" y="797"/>
                    <a:pt x="36" y="797"/>
                  </a:cubicBezTo>
                  <a:cubicBezTo>
                    <a:pt x="0" y="833"/>
                    <a:pt x="0" y="892"/>
                    <a:pt x="36" y="928"/>
                  </a:cubicBezTo>
                  <a:cubicBezTo>
                    <a:pt x="797" y="1689"/>
                    <a:pt x="797" y="1689"/>
                    <a:pt x="797" y="1689"/>
                  </a:cubicBezTo>
                  <a:cubicBezTo>
                    <a:pt x="833" y="1725"/>
                    <a:pt x="892" y="1725"/>
                    <a:pt x="928" y="1689"/>
                  </a:cubicBezTo>
                  <a:cubicBezTo>
                    <a:pt x="1689" y="928"/>
                    <a:pt x="1689" y="928"/>
                    <a:pt x="1689" y="928"/>
                  </a:cubicBezTo>
                  <a:cubicBezTo>
                    <a:pt x="1725" y="892"/>
                    <a:pt x="1725" y="833"/>
                    <a:pt x="1689" y="797"/>
                  </a:cubicBezTo>
                  <a:close/>
                </a:path>
              </a:pathLst>
            </a:custGeom>
            <a:solidFill>
              <a:srgbClr val="D1D0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7"/>
            <p:cNvSpPr/>
            <p:nvPr userDrawn="1"/>
          </p:nvSpPr>
          <p:spPr bwMode="auto">
            <a:xfrm>
              <a:off x="3953" y="-384"/>
              <a:ext cx="973" cy="973"/>
            </a:xfrm>
            <a:custGeom>
              <a:avLst/>
              <a:gdLst>
                <a:gd name="T0" fmla="*/ 1163 w 1199"/>
                <a:gd name="T1" fmla="*/ 535 h 1199"/>
                <a:gd name="T2" fmla="*/ 665 w 1199"/>
                <a:gd name="T3" fmla="*/ 36 h 1199"/>
                <a:gd name="T4" fmla="*/ 535 w 1199"/>
                <a:gd name="T5" fmla="*/ 36 h 1199"/>
                <a:gd name="T6" fmla="*/ 36 w 1199"/>
                <a:gd name="T7" fmla="*/ 535 h 1199"/>
                <a:gd name="T8" fmla="*/ 36 w 1199"/>
                <a:gd name="T9" fmla="*/ 665 h 1199"/>
                <a:gd name="T10" fmla="*/ 535 w 1199"/>
                <a:gd name="T11" fmla="*/ 1163 h 1199"/>
                <a:gd name="T12" fmla="*/ 665 w 1199"/>
                <a:gd name="T13" fmla="*/ 1163 h 1199"/>
                <a:gd name="T14" fmla="*/ 1163 w 1199"/>
                <a:gd name="T15" fmla="*/ 665 h 1199"/>
                <a:gd name="T16" fmla="*/ 1163 w 1199"/>
                <a:gd name="T17" fmla="*/ 535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9" h="1199">
                  <a:moveTo>
                    <a:pt x="1163" y="535"/>
                  </a:moveTo>
                  <a:cubicBezTo>
                    <a:pt x="665" y="36"/>
                    <a:pt x="665" y="36"/>
                    <a:pt x="665" y="36"/>
                  </a:cubicBezTo>
                  <a:cubicBezTo>
                    <a:pt x="629" y="0"/>
                    <a:pt x="571" y="0"/>
                    <a:pt x="535" y="36"/>
                  </a:cubicBezTo>
                  <a:cubicBezTo>
                    <a:pt x="36" y="535"/>
                    <a:pt x="36" y="535"/>
                    <a:pt x="36" y="535"/>
                  </a:cubicBezTo>
                  <a:cubicBezTo>
                    <a:pt x="0" y="571"/>
                    <a:pt x="0" y="629"/>
                    <a:pt x="36" y="665"/>
                  </a:cubicBezTo>
                  <a:cubicBezTo>
                    <a:pt x="535" y="1163"/>
                    <a:pt x="535" y="1163"/>
                    <a:pt x="535" y="1163"/>
                  </a:cubicBezTo>
                  <a:cubicBezTo>
                    <a:pt x="571" y="1199"/>
                    <a:pt x="629" y="1199"/>
                    <a:pt x="665" y="1163"/>
                  </a:cubicBezTo>
                  <a:cubicBezTo>
                    <a:pt x="1163" y="665"/>
                    <a:pt x="1163" y="665"/>
                    <a:pt x="1163" y="665"/>
                  </a:cubicBezTo>
                  <a:cubicBezTo>
                    <a:pt x="1199" y="629"/>
                    <a:pt x="1199" y="571"/>
                    <a:pt x="1163" y="535"/>
                  </a:cubicBezTo>
                  <a:close/>
                </a:path>
              </a:pathLst>
            </a:custGeom>
            <a:solidFill>
              <a:srgbClr val="D1D0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8"/>
            <p:cNvSpPr/>
            <p:nvPr userDrawn="1"/>
          </p:nvSpPr>
          <p:spPr bwMode="auto">
            <a:xfrm>
              <a:off x="4881" y="854"/>
              <a:ext cx="973" cy="973"/>
            </a:xfrm>
            <a:custGeom>
              <a:avLst/>
              <a:gdLst>
                <a:gd name="T0" fmla="*/ 1163 w 1199"/>
                <a:gd name="T1" fmla="*/ 534 h 1199"/>
                <a:gd name="T2" fmla="*/ 664 w 1199"/>
                <a:gd name="T3" fmla="*/ 36 h 1199"/>
                <a:gd name="T4" fmla="*/ 534 w 1199"/>
                <a:gd name="T5" fmla="*/ 36 h 1199"/>
                <a:gd name="T6" fmla="*/ 36 w 1199"/>
                <a:gd name="T7" fmla="*/ 534 h 1199"/>
                <a:gd name="T8" fmla="*/ 36 w 1199"/>
                <a:gd name="T9" fmla="*/ 664 h 1199"/>
                <a:gd name="T10" fmla="*/ 534 w 1199"/>
                <a:gd name="T11" fmla="*/ 1163 h 1199"/>
                <a:gd name="T12" fmla="*/ 664 w 1199"/>
                <a:gd name="T13" fmla="*/ 1163 h 1199"/>
                <a:gd name="T14" fmla="*/ 1163 w 1199"/>
                <a:gd name="T15" fmla="*/ 664 h 1199"/>
                <a:gd name="T16" fmla="*/ 1163 w 1199"/>
                <a:gd name="T17" fmla="*/ 53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9" h="1199">
                  <a:moveTo>
                    <a:pt x="1163" y="534"/>
                  </a:moveTo>
                  <a:cubicBezTo>
                    <a:pt x="664" y="36"/>
                    <a:pt x="664" y="36"/>
                    <a:pt x="664" y="36"/>
                  </a:cubicBezTo>
                  <a:cubicBezTo>
                    <a:pt x="628" y="0"/>
                    <a:pt x="570" y="0"/>
                    <a:pt x="534" y="36"/>
                  </a:cubicBezTo>
                  <a:cubicBezTo>
                    <a:pt x="36" y="534"/>
                    <a:pt x="36" y="534"/>
                    <a:pt x="36" y="534"/>
                  </a:cubicBezTo>
                  <a:cubicBezTo>
                    <a:pt x="0" y="570"/>
                    <a:pt x="0" y="628"/>
                    <a:pt x="36" y="664"/>
                  </a:cubicBezTo>
                  <a:cubicBezTo>
                    <a:pt x="534" y="1163"/>
                    <a:pt x="534" y="1163"/>
                    <a:pt x="534" y="1163"/>
                  </a:cubicBezTo>
                  <a:cubicBezTo>
                    <a:pt x="570" y="1199"/>
                    <a:pt x="628" y="1199"/>
                    <a:pt x="664" y="1163"/>
                  </a:cubicBezTo>
                  <a:cubicBezTo>
                    <a:pt x="1163" y="664"/>
                    <a:pt x="1163" y="664"/>
                    <a:pt x="1163" y="664"/>
                  </a:cubicBezTo>
                  <a:cubicBezTo>
                    <a:pt x="1199" y="628"/>
                    <a:pt x="1199" y="570"/>
                    <a:pt x="1163" y="534"/>
                  </a:cubicBezTo>
                  <a:close/>
                </a:path>
              </a:pathLst>
            </a:custGeom>
            <a:solidFill>
              <a:srgbClr val="BAB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9"/>
            <p:cNvSpPr/>
            <p:nvPr userDrawn="1"/>
          </p:nvSpPr>
          <p:spPr bwMode="auto">
            <a:xfrm>
              <a:off x="3501" y="1898"/>
              <a:ext cx="973" cy="973"/>
            </a:xfrm>
            <a:custGeom>
              <a:avLst/>
              <a:gdLst>
                <a:gd name="T0" fmla="*/ 1163 w 1199"/>
                <a:gd name="T1" fmla="*/ 535 h 1199"/>
                <a:gd name="T2" fmla="*/ 664 w 1199"/>
                <a:gd name="T3" fmla="*/ 36 h 1199"/>
                <a:gd name="T4" fmla="*/ 534 w 1199"/>
                <a:gd name="T5" fmla="*/ 36 h 1199"/>
                <a:gd name="T6" fmla="*/ 36 w 1199"/>
                <a:gd name="T7" fmla="*/ 535 h 1199"/>
                <a:gd name="T8" fmla="*/ 36 w 1199"/>
                <a:gd name="T9" fmla="*/ 665 h 1199"/>
                <a:gd name="T10" fmla="*/ 534 w 1199"/>
                <a:gd name="T11" fmla="*/ 1163 h 1199"/>
                <a:gd name="T12" fmla="*/ 664 w 1199"/>
                <a:gd name="T13" fmla="*/ 1163 h 1199"/>
                <a:gd name="T14" fmla="*/ 1163 w 1199"/>
                <a:gd name="T15" fmla="*/ 665 h 1199"/>
                <a:gd name="T16" fmla="*/ 1163 w 1199"/>
                <a:gd name="T17" fmla="*/ 535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9" h="1199">
                  <a:moveTo>
                    <a:pt x="1163" y="535"/>
                  </a:moveTo>
                  <a:cubicBezTo>
                    <a:pt x="664" y="36"/>
                    <a:pt x="664" y="36"/>
                    <a:pt x="664" y="36"/>
                  </a:cubicBezTo>
                  <a:cubicBezTo>
                    <a:pt x="628" y="0"/>
                    <a:pt x="570" y="0"/>
                    <a:pt x="534" y="36"/>
                  </a:cubicBezTo>
                  <a:cubicBezTo>
                    <a:pt x="36" y="535"/>
                    <a:pt x="36" y="535"/>
                    <a:pt x="36" y="535"/>
                  </a:cubicBezTo>
                  <a:cubicBezTo>
                    <a:pt x="0" y="571"/>
                    <a:pt x="0" y="629"/>
                    <a:pt x="36" y="665"/>
                  </a:cubicBezTo>
                  <a:cubicBezTo>
                    <a:pt x="534" y="1163"/>
                    <a:pt x="534" y="1163"/>
                    <a:pt x="534" y="1163"/>
                  </a:cubicBezTo>
                  <a:cubicBezTo>
                    <a:pt x="570" y="1199"/>
                    <a:pt x="628" y="1199"/>
                    <a:pt x="664" y="1163"/>
                  </a:cubicBezTo>
                  <a:cubicBezTo>
                    <a:pt x="1163" y="665"/>
                    <a:pt x="1163" y="665"/>
                    <a:pt x="1163" y="665"/>
                  </a:cubicBezTo>
                  <a:cubicBezTo>
                    <a:pt x="1199" y="629"/>
                    <a:pt x="1199" y="571"/>
                    <a:pt x="1163" y="535"/>
                  </a:cubicBezTo>
                  <a:close/>
                </a:path>
              </a:pathLst>
            </a:custGeom>
            <a:solidFill>
              <a:srgbClr val="BAB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10"/>
            <p:cNvSpPr/>
            <p:nvPr userDrawn="1"/>
          </p:nvSpPr>
          <p:spPr bwMode="auto">
            <a:xfrm>
              <a:off x="4180" y="1355"/>
              <a:ext cx="734" cy="734"/>
            </a:xfrm>
            <a:custGeom>
              <a:avLst/>
              <a:gdLst>
                <a:gd name="T0" fmla="*/ 869 w 905"/>
                <a:gd name="T1" fmla="*/ 388 h 905"/>
                <a:gd name="T2" fmla="*/ 517 w 905"/>
                <a:gd name="T3" fmla="*/ 36 h 905"/>
                <a:gd name="T4" fmla="*/ 387 w 905"/>
                <a:gd name="T5" fmla="*/ 36 h 905"/>
                <a:gd name="T6" fmla="*/ 35 w 905"/>
                <a:gd name="T7" fmla="*/ 388 h 905"/>
                <a:gd name="T8" fmla="*/ 35 w 905"/>
                <a:gd name="T9" fmla="*/ 518 h 905"/>
                <a:gd name="T10" fmla="*/ 387 w 905"/>
                <a:gd name="T11" fmla="*/ 869 h 905"/>
                <a:gd name="T12" fmla="*/ 517 w 905"/>
                <a:gd name="T13" fmla="*/ 869 h 905"/>
                <a:gd name="T14" fmla="*/ 869 w 905"/>
                <a:gd name="T15" fmla="*/ 518 h 905"/>
                <a:gd name="T16" fmla="*/ 869 w 905"/>
                <a:gd name="T17" fmla="*/ 388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5" h="905">
                  <a:moveTo>
                    <a:pt x="869" y="388"/>
                  </a:moveTo>
                  <a:cubicBezTo>
                    <a:pt x="517" y="36"/>
                    <a:pt x="517" y="36"/>
                    <a:pt x="517" y="36"/>
                  </a:cubicBezTo>
                  <a:cubicBezTo>
                    <a:pt x="481" y="0"/>
                    <a:pt x="423" y="0"/>
                    <a:pt x="387" y="36"/>
                  </a:cubicBezTo>
                  <a:cubicBezTo>
                    <a:pt x="35" y="388"/>
                    <a:pt x="35" y="388"/>
                    <a:pt x="35" y="388"/>
                  </a:cubicBezTo>
                  <a:cubicBezTo>
                    <a:pt x="0" y="424"/>
                    <a:pt x="0" y="482"/>
                    <a:pt x="35" y="518"/>
                  </a:cubicBezTo>
                  <a:cubicBezTo>
                    <a:pt x="387" y="869"/>
                    <a:pt x="387" y="869"/>
                    <a:pt x="387" y="869"/>
                  </a:cubicBezTo>
                  <a:cubicBezTo>
                    <a:pt x="423" y="905"/>
                    <a:pt x="481" y="905"/>
                    <a:pt x="517" y="869"/>
                  </a:cubicBezTo>
                  <a:cubicBezTo>
                    <a:pt x="869" y="518"/>
                    <a:pt x="869" y="518"/>
                    <a:pt x="869" y="518"/>
                  </a:cubicBezTo>
                  <a:cubicBezTo>
                    <a:pt x="905" y="482"/>
                    <a:pt x="905" y="424"/>
                    <a:pt x="869" y="388"/>
                  </a:cubicBezTo>
                  <a:close/>
                </a:path>
              </a:pathLst>
            </a:custGeom>
            <a:solidFill>
              <a:srgbClr val="5AAD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11"/>
            <p:cNvSpPr/>
            <p:nvPr userDrawn="1"/>
          </p:nvSpPr>
          <p:spPr bwMode="auto">
            <a:xfrm>
              <a:off x="3450" y="443"/>
              <a:ext cx="439" cy="439"/>
            </a:xfrm>
            <a:custGeom>
              <a:avLst/>
              <a:gdLst>
                <a:gd name="T0" fmla="*/ 505 w 541"/>
                <a:gd name="T1" fmla="*/ 205 h 541"/>
                <a:gd name="T2" fmla="*/ 336 w 541"/>
                <a:gd name="T3" fmla="*/ 36 h 541"/>
                <a:gd name="T4" fmla="*/ 205 w 541"/>
                <a:gd name="T5" fmla="*/ 36 h 541"/>
                <a:gd name="T6" fmla="*/ 36 w 541"/>
                <a:gd name="T7" fmla="*/ 205 h 541"/>
                <a:gd name="T8" fmla="*/ 36 w 541"/>
                <a:gd name="T9" fmla="*/ 335 h 541"/>
                <a:gd name="T10" fmla="*/ 205 w 541"/>
                <a:gd name="T11" fmla="*/ 505 h 541"/>
                <a:gd name="T12" fmla="*/ 336 w 541"/>
                <a:gd name="T13" fmla="*/ 505 h 541"/>
                <a:gd name="T14" fmla="*/ 505 w 541"/>
                <a:gd name="T15" fmla="*/ 335 h 541"/>
                <a:gd name="T16" fmla="*/ 505 w 541"/>
                <a:gd name="T17" fmla="*/ 205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1" h="541">
                  <a:moveTo>
                    <a:pt x="505" y="205"/>
                  </a:moveTo>
                  <a:cubicBezTo>
                    <a:pt x="336" y="36"/>
                    <a:pt x="336" y="36"/>
                    <a:pt x="336" y="36"/>
                  </a:cubicBezTo>
                  <a:cubicBezTo>
                    <a:pt x="300" y="0"/>
                    <a:pt x="241" y="0"/>
                    <a:pt x="205" y="36"/>
                  </a:cubicBezTo>
                  <a:cubicBezTo>
                    <a:pt x="36" y="205"/>
                    <a:pt x="36" y="205"/>
                    <a:pt x="36" y="205"/>
                  </a:cubicBezTo>
                  <a:cubicBezTo>
                    <a:pt x="0" y="241"/>
                    <a:pt x="0" y="299"/>
                    <a:pt x="36" y="335"/>
                  </a:cubicBezTo>
                  <a:cubicBezTo>
                    <a:pt x="205" y="505"/>
                    <a:pt x="205" y="505"/>
                    <a:pt x="205" y="505"/>
                  </a:cubicBezTo>
                  <a:cubicBezTo>
                    <a:pt x="241" y="541"/>
                    <a:pt x="300" y="541"/>
                    <a:pt x="336" y="505"/>
                  </a:cubicBezTo>
                  <a:cubicBezTo>
                    <a:pt x="505" y="335"/>
                    <a:pt x="505" y="335"/>
                    <a:pt x="505" y="335"/>
                  </a:cubicBezTo>
                  <a:cubicBezTo>
                    <a:pt x="541" y="299"/>
                    <a:pt x="541" y="241"/>
                    <a:pt x="505" y="205"/>
                  </a:cubicBezTo>
                  <a:close/>
                </a:path>
              </a:pathLst>
            </a:custGeom>
            <a:solidFill>
              <a:srgbClr val="393A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12"/>
            <p:cNvSpPr/>
            <p:nvPr userDrawn="1"/>
          </p:nvSpPr>
          <p:spPr bwMode="auto">
            <a:xfrm>
              <a:off x="4701" y="351"/>
              <a:ext cx="439" cy="440"/>
            </a:xfrm>
            <a:custGeom>
              <a:avLst/>
              <a:gdLst>
                <a:gd name="T0" fmla="*/ 505 w 541"/>
                <a:gd name="T1" fmla="*/ 206 h 542"/>
                <a:gd name="T2" fmla="*/ 336 w 541"/>
                <a:gd name="T3" fmla="*/ 36 h 542"/>
                <a:gd name="T4" fmla="*/ 205 w 541"/>
                <a:gd name="T5" fmla="*/ 36 h 542"/>
                <a:gd name="T6" fmla="*/ 36 w 541"/>
                <a:gd name="T7" fmla="*/ 206 h 542"/>
                <a:gd name="T8" fmla="*/ 36 w 541"/>
                <a:gd name="T9" fmla="*/ 336 h 542"/>
                <a:gd name="T10" fmla="*/ 205 w 541"/>
                <a:gd name="T11" fmla="*/ 506 h 542"/>
                <a:gd name="T12" fmla="*/ 336 w 541"/>
                <a:gd name="T13" fmla="*/ 506 h 542"/>
                <a:gd name="T14" fmla="*/ 505 w 541"/>
                <a:gd name="T15" fmla="*/ 336 h 542"/>
                <a:gd name="T16" fmla="*/ 505 w 541"/>
                <a:gd name="T17" fmla="*/ 206 h 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1" h="542">
                  <a:moveTo>
                    <a:pt x="505" y="206"/>
                  </a:moveTo>
                  <a:cubicBezTo>
                    <a:pt x="336" y="36"/>
                    <a:pt x="336" y="36"/>
                    <a:pt x="336" y="36"/>
                  </a:cubicBezTo>
                  <a:cubicBezTo>
                    <a:pt x="300" y="0"/>
                    <a:pt x="241" y="0"/>
                    <a:pt x="205" y="36"/>
                  </a:cubicBezTo>
                  <a:cubicBezTo>
                    <a:pt x="36" y="206"/>
                    <a:pt x="36" y="206"/>
                    <a:pt x="36" y="206"/>
                  </a:cubicBezTo>
                  <a:cubicBezTo>
                    <a:pt x="0" y="242"/>
                    <a:pt x="0" y="300"/>
                    <a:pt x="36" y="336"/>
                  </a:cubicBezTo>
                  <a:cubicBezTo>
                    <a:pt x="205" y="506"/>
                    <a:pt x="205" y="506"/>
                    <a:pt x="205" y="506"/>
                  </a:cubicBezTo>
                  <a:cubicBezTo>
                    <a:pt x="241" y="542"/>
                    <a:pt x="300" y="542"/>
                    <a:pt x="336" y="506"/>
                  </a:cubicBezTo>
                  <a:cubicBezTo>
                    <a:pt x="505" y="336"/>
                    <a:pt x="505" y="336"/>
                    <a:pt x="505" y="336"/>
                  </a:cubicBezTo>
                  <a:cubicBezTo>
                    <a:pt x="541" y="300"/>
                    <a:pt x="541" y="242"/>
                    <a:pt x="505" y="206"/>
                  </a:cubicBezTo>
                  <a:close/>
                </a:path>
              </a:pathLst>
            </a:custGeom>
            <a:solidFill>
              <a:srgbClr val="5AAD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13"/>
            <p:cNvSpPr/>
            <p:nvPr userDrawn="1"/>
          </p:nvSpPr>
          <p:spPr bwMode="auto">
            <a:xfrm>
              <a:off x="3827" y="1514"/>
              <a:ext cx="673" cy="673"/>
            </a:xfrm>
            <a:custGeom>
              <a:avLst/>
              <a:gdLst>
                <a:gd name="T0" fmla="*/ 793 w 829"/>
                <a:gd name="T1" fmla="*/ 350 h 830"/>
                <a:gd name="T2" fmla="*/ 480 w 829"/>
                <a:gd name="T3" fmla="*/ 36 h 830"/>
                <a:gd name="T4" fmla="*/ 349 w 829"/>
                <a:gd name="T5" fmla="*/ 36 h 830"/>
                <a:gd name="T6" fmla="*/ 36 w 829"/>
                <a:gd name="T7" fmla="*/ 350 h 830"/>
                <a:gd name="T8" fmla="*/ 36 w 829"/>
                <a:gd name="T9" fmla="*/ 480 h 830"/>
                <a:gd name="T10" fmla="*/ 349 w 829"/>
                <a:gd name="T11" fmla="*/ 794 h 830"/>
                <a:gd name="T12" fmla="*/ 480 w 829"/>
                <a:gd name="T13" fmla="*/ 794 h 830"/>
                <a:gd name="T14" fmla="*/ 793 w 829"/>
                <a:gd name="T15" fmla="*/ 480 h 830"/>
                <a:gd name="T16" fmla="*/ 793 w 829"/>
                <a:gd name="T17" fmla="*/ 350 h 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29" h="830">
                  <a:moveTo>
                    <a:pt x="793" y="350"/>
                  </a:moveTo>
                  <a:cubicBezTo>
                    <a:pt x="480" y="36"/>
                    <a:pt x="480" y="36"/>
                    <a:pt x="480" y="36"/>
                  </a:cubicBezTo>
                  <a:cubicBezTo>
                    <a:pt x="444" y="0"/>
                    <a:pt x="385" y="0"/>
                    <a:pt x="349" y="36"/>
                  </a:cubicBezTo>
                  <a:cubicBezTo>
                    <a:pt x="36" y="350"/>
                    <a:pt x="36" y="350"/>
                    <a:pt x="36" y="350"/>
                  </a:cubicBezTo>
                  <a:cubicBezTo>
                    <a:pt x="0" y="386"/>
                    <a:pt x="0" y="444"/>
                    <a:pt x="36" y="480"/>
                  </a:cubicBezTo>
                  <a:cubicBezTo>
                    <a:pt x="349" y="794"/>
                    <a:pt x="349" y="794"/>
                    <a:pt x="349" y="794"/>
                  </a:cubicBezTo>
                  <a:cubicBezTo>
                    <a:pt x="385" y="830"/>
                    <a:pt x="444" y="830"/>
                    <a:pt x="480" y="794"/>
                  </a:cubicBezTo>
                  <a:cubicBezTo>
                    <a:pt x="793" y="480"/>
                    <a:pt x="793" y="480"/>
                    <a:pt x="793" y="480"/>
                  </a:cubicBezTo>
                  <a:cubicBezTo>
                    <a:pt x="829" y="444"/>
                    <a:pt x="829" y="386"/>
                    <a:pt x="793" y="350"/>
                  </a:cubicBezTo>
                  <a:close/>
                </a:path>
              </a:pathLst>
            </a:custGeom>
            <a:noFill/>
            <a:ln w="9525" cap="flat">
              <a:solidFill>
                <a:srgbClr val="393A45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14"/>
            <p:cNvSpPr/>
            <p:nvPr userDrawn="1"/>
          </p:nvSpPr>
          <p:spPr bwMode="auto">
            <a:xfrm>
              <a:off x="4226" y="234"/>
              <a:ext cx="673" cy="674"/>
            </a:xfrm>
            <a:custGeom>
              <a:avLst/>
              <a:gdLst>
                <a:gd name="T0" fmla="*/ 794 w 830"/>
                <a:gd name="T1" fmla="*/ 350 h 830"/>
                <a:gd name="T2" fmla="*/ 480 w 830"/>
                <a:gd name="T3" fmla="*/ 36 h 830"/>
                <a:gd name="T4" fmla="*/ 350 w 830"/>
                <a:gd name="T5" fmla="*/ 36 h 830"/>
                <a:gd name="T6" fmla="*/ 36 w 830"/>
                <a:gd name="T7" fmla="*/ 350 h 830"/>
                <a:gd name="T8" fmla="*/ 36 w 830"/>
                <a:gd name="T9" fmla="*/ 480 h 830"/>
                <a:gd name="T10" fmla="*/ 350 w 830"/>
                <a:gd name="T11" fmla="*/ 794 h 830"/>
                <a:gd name="T12" fmla="*/ 480 w 830"/>
                <a:gd name="T13" fmla="*/ 794 h 830"/>
                <a:gd name="T14" fmla="*/ 794 w 830"/>
                <a:gd name="T15" fmla="*/ 480 h 830"/>
                <a:gd name="T16" fmla="*/ 794 w 830"/>
                <a:gd name="T17" fmla="*/ 350 h 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30" h="830">
                  <a:moveTo>
                    <a:pt x="794" y="350"/>
                  </a:moveTo>
                  <a:cubicBezTo>
                    <a:pt x="480" y="36"/>
                    <a:pt x="480" y="36"/>
                    <a:pt x="480" y="36"/>
                  </a:cubicBezTo>
                  <a:cubicBezTo>
                    <a:pt x="444" y="0"/>
                    <a:pt x="386" y="0"/>
                    <a:pt x="350" y="36"/>
                  </a:cubicBezTo>
                  <a:cubicBezTo>
                    <a:pt x="36" y="350"/>
                    <a:pt x="36" y="350"/>
                    <a:pt x="36" y="350"/>
                  </a:cubicBezTo>
                  <a:cubicBezTo>
                    <a:pt x="0" y="386"/>
                    <a:pt x="0" y="444"/>
                    <a:pt x="36" y="480"/>
                  </a:cubicBezTo>
                  <a:cubicBezTo>
                    <a:pt x="350" y="794"/>
                    <a:pt x="350" y="794"/>
                    <a:pt x="350" y="794"/>
                  </a:cubicBezTo>
                  <a:cubicBezTo>
                    <a:pt x="386" y="830"/>
                    <a:pt x="444" y="830"/>
                    <a:pt x="480" y="794"/>
                  </a:cubicBezTo>
                  <a:cubicBezTo>
                    <a:pt x="794" y="480"/>
                    <a:pt x="794" y="480"/>
                    <a:pt x="794" y="480"/>
                  </a:cubicBezTo>
                  <a:cubicBezTo>
                    <a:pt x="830" y="444"/>
                    <a:pt x="830" y="386"/>
                    <a:pt x="794" y="350"/>
                  </a:cubicBezTo>
                  <a:close/>
                </a:path>
              </a:pathLst>
            </a:custGeom>
            <a:noFill/>
            <a:ln w="9525" cap="flat">
              <a:solidFill>
                <a:srgbClr val="393A45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4DF8-A925-4239-AB7A-1372B8E3670B}" type="datetime1">
              <a:rPr lang="en-US" altLang="zh-CN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2542D6-DF36-4FFF-9449-A8CBB500CC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7DBD1-4D0D-4464-B15A-849967CA57E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4.xml"/><Relationship Id="rId2" Type="http://schemas.openxmlformats.org/officeDocument/2006/relationships/image" Target="../media/image5.png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tags" Target="../tags/tag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tags" Target="../tags/tag6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wmf"/><Relationship Id="rId1" Type="http://schemas.openxmlformats.org/officeDocument/2006/relationships/oleObject" Target="../embeddings/oleObject1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303530" y="1547495"/>
            <a:ext cx="577088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>
                <a:solidFill>
                  <a:srgbClr val="393A45"/>
                </a:solidFill>
                <a:latin typeface="+mj-ea"/>
                <a:ea typeface="+mj-ea"/>
                <a:sym typeface="+mn-ea"/>
              </a:rPr>
              <a:t>新能源出力分析与预测</a:t>
            </a:r>
            <a:endParaRPr lang="zh-CN" altLang="en-US" sz="2800" b="1">
              <a:solidFill>
                <a:srgbClr val="393A45"/>
              </a:solidFill>
              <a:latin typeface="+mj-ea"/>
              <a:ea typeface="+mj-ea"/>
            </a:endParaRPr>
          </a:p>
          <a:p>
            <a:pPr algn="r"/>
            <a:r>
              <a:rPr lang="en-US" altLang="zh-CN" sz="2800" b="1">
                <a:solidFill>
                  <a:srgbClr val="393A45"/>
                </a:solidFill>
                <a:latin typeface="+mj-ea"/>
                <a:ea typeface="+mj-ea"/>
              </a:rPr>
              <a:t>——</a:t>
            </a:r>
            <a:r>
              <a:rPr lang="zh-CN" altLang="en-US" sz="2800" b="1">
                <a:solidFill>
                  <a:srgbClr val="393A45"/>
                </a:solidFill>
                <a:latin typeface="+mj-ea"/>
                <a:ea typeface="+mj-ea"/>
              </a:rPr>
              <a:t>基于</a:t>
            </a:r>
            <a:r>
              <a:rPr lang="en-US" altLang="zh-CN" sz="2800" b="1">
                <a:solidFill>
                  <a:srgbClr val="393A45"/>
                </a:solidFill>
                <a:latin typeface="+mj-ea"/>
                <a:ea typeface="+mj-ea"/>
              </a:rPr>
              <a:t>sklearn</a:t>
            </a:r>
            <a:r>
              <a:rPr lang="zh-CN" altLang="en-US" sz="2800" b="1">
                <a:solidFill>
                  <a:srgbClr val="393A45"/>
                </a:solidFill>
                <a:latin typeface="+mj-ea"/>
                <a:ea typeface="+mj-ea"/>
              </a:rPr>
              <a:t>的</a:t>
            </a:r>
            <a:r>
              <a:rPr lang="zh-CN" altLang="en-US" sz="2800" b="1">
                <a:solidFill>
                  <a:srgbClr val="393A45"/>
                </a:solidFill>
                <a:latin typeface="+mj-ea"/>
                <a:ea typeface="+mj-ea"/>
                <a:sym typeface="+mn-ea"/>
              </a:rPr>
              <a:t>数据挖掘</a:t>
            </a:r>
            <a:endParaRPr lang="zh-CN" altLang="en-US" sz="2800" b="1">
              <a:solidFill>
                <a:srgbClr val="393A45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568450" y="3086735"/>
            <a:ext cx="22288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sz="1600" b="1">
                <a:solidFill>
                  <a:srgbClr val="393A4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苏博文</a:t>
            </a:r>
            <a:r>
              <a:rPr lang="en-US" altLang="zh-CN" sz="1600" b="1">
                <a:solidFill>
                  <a:srgbClr val="393A4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600" b="1">
                <a:solidFill>
                  <a:srgbClr val="393A4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卢梁宇宸</a:t>
            </a:r>
            <a:r>
              <a:rPr lang="en-US" altLang="zh-CN" sz="1600" b="1">
                <a:solidFill>
                  <a:srgbClr val="393A4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600" b="1">
                <a:solidFill>
                  <a:srgbClr val="393A4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杨旻</a:t>
            </a:r>
            <a:endParaRPr lang="zh-CN" altLang="en-US" sz="1600" b="1">
              <a:solidFill>
                <a:srgbClr val="393A4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106035" y="514350"/>
            <a:ext cx="3509645" cy="2734310"/>
            <a:chOff x="8139" y="1289"/>
            <a:chExt cx="5527" cy="4306"/>
          </a:xfrm>
        </p:grpSpPr>
        <p:sp>
          <p:nvSpPr>
            <p:cNvPr id="30" name="文本框 29"/>
            <p:cNvSpPr txBox="1"/>
            <p:nvPr/>
          </p:nvSpPr>
          <p:spPr>
            <a:xfrm>
              <a:off x="8875" y="4479"/>
              <a:ext cx="1570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defTabSz="609600">
                <a:defRPr/>
              </a:pPr>
              <a:r>
                <a:rPr kumimoji="1" lang="en-US" altLang="zh-CN" sz="2000" b="1" kern="0">
                  <a:solidFill>
                    <a:srgbClr val="393A4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Calibri" panose="020F0502020204030204" pitchFamily="34" charset="0"/>
                </a:rPr>
                <a:t>Task 3</a:t>
              </a:r>
              <a:endParaRPr kumimoji="1" lang="en-US" altLang="zh-CN" sz="2000" b="1" kern="0">
                <a:solidFill>
                  <a:srgbClr val="39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Calibri" panose="020F0502020204030204" pitchFamily="34" charset="0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8875" y="5161"/>
              <a:ext cx="4676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609600">
                <a:defRPr/>
              </a:pPr>
              <a:r>
                <a:rPr kumimoji="1" lang="en-US" altLang="zh-CN" sz="12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微软雅黑" panose="020B0503020204020204" pitchFamily="34" charset="-122"/>
                  <a:cs typeface="+mn-ea"/>
                  <a:sym typeface="Calibri" panose="020F0502020204030204" pitchFamily="34" charset="0"/>
                </a:rPr>
                <a:t>日前新能源出力点预测模型分析</a:t>
              </a:r>
              <a:endParaRPr kumimoji="1" lang="en-US" altLang="zh-CN" sz="1200" ker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微软雅黑" panose="020B0503020204020204" pitchFamily="34" charset="-122"/>
                <a:cs typeface="+mn-ea"/>
                <a:sym typeface="Calibri" panose="020F0502020204030204" pitchFamily="34" charset="0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8875" y="2910"/>
              <a:ext cx="1570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defTabSz="609600">
                <a:defRPr/>
              </a:pPr>
              <a:r>
                <a:rPr kumimoji="1" lang="en-US" altLang="zh-CN" sz="2000" b="1" kern="0">
                  <a:solidFill>
                    <a:srgbClr val="393A4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Calibri" panose="020F0502020204030204" pitchFamily="34" charset="0"/>
                </a:rPr>
                <a:t>Task 2</a:t>
              </a:r>
              <a:endParaRPr kumimoji="1" lang="en-US" altLang="zh-CN" sz="2000" b="1" kern="0">
                <a:solidFill>
                  <a:srgbClr val="39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Calibri" panose="020F0502020204030204" pitchFamily="34" charset="0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8875" y="3560"/>
              <a:ext cx="4009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609600">
                <a:defRPr/>
              </a:pPr>
              <a:r>
                <a:rPr kumimoji="1" lang="en-US" altLang="zh-CN" sz="12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微软雅黑" panose="020B0503020204020204" pitchFamily="34" charset="-122"/>
                  <a:cs typeface="+mn-ea"/>
                  <a:sym typeface="Calibri" panose="020F0502020204030204" pitchFamily="34" charset="0"/>
                </a:rPr>
                <a:t>不同国家的新能源出力分析</a:t>
              </a:r>
              <a:endParaRPr kumimoji="1" lang="en-US" altLang="zh-CN" sz="1200" ker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微软雅黑" panose="020B0503020204020204" pitchFamily="34" charset="-122"/>
                <a:cs typeface="+mn-ea"/>
                <a:sym typeface="Calibri" panose="020F0502020204030204" pitchFamily="34" charset="0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8875" y="1289"/>
              <a:ext cx="1570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defTabSz="609600">
                <a:defRPr/>
              </a:pPr>
              <a:r>
                <a:rPr kumimoji="1" lang="en-US" altLang="zh-CN" sz="2000" b="1" kern="0">
                  <a:solidFill>
                    <a:srgbClr val="393A4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Calibri" panose="020F0502020204030204" pitchFamily="34" charset="0"/>
                </a:rPr>
                <a:t>Task 1</a:t>
              </a:r>
              <a:endParaRPr kumimoji="1" lang="en-US" altLang="zh-CN" sz="2000" b="1" kern="0">
                <a:solidFill>
                  <a:srgbClr val="39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Calibri" panose="020F0502020204030204" pitchFamily="34" charset="0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8875" y="1960"/>
              <a:ext cx="479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609600">
                <a:defRPr/>
              </a:pPr>
              <a:r>
                <a:rPr kumimoji="1" lang="en-US" altLang="zh-CN" sz="12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微软雅黑" panose="020B0503020204020204" pitchFamily="34" charset="-122"/>
                  <a:cs typeface="+mn-ea"/>
                  <a:sym typeface="Calibri" panose="020F0502020204030204" pitchFamily="34" charset="0"/>
                </a:rPr>
                <a:t>基于历史数据的日前新能源出力预测</a:t>
              </a:r>
              <a:endParaRPr kumimoji="1" lang="en-US" altLang="zh-CN" sz="1200" ker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微软雅黑" panose="020B0503020204020204" pitchFamily="34" charset="-122"/>
                <a:cs typeface="+mn-ea"/>
                <a:sym typeface="Calibri" panose="020F0502020204030204" pitchFamily="34" charset="0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8139" y="4578"/>
              <a:ext cx="651" cy="651"/>
            </a:xfrm>
            <a:prstGeom prst="ellipse">
              <a:avLst/>
            </a:prstGeom>
            <a:solidFill>
              <a:srgbClr val="5AAD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8139" y="4676"/>
              <a:ext cx="65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609600">
                <a:defRPr/>
              </a:pPr>
              <a:r>
                <a:rPr kumimoji="1" lang="en-US" altLang="zh-CN" sz="1400" b="1" kern="0">
                  <a:solidFill>
                    <a:schemeClr val="bg1"/>
                  </a:solidFill>
                  <a:latin typeface="+mj-lt"/>
                  <a:ea typeface="微软雅黑" panose="020B0503020204020204" pitchFamily="34" charset="-122"/>
                  <a:cs typeface="+mn-ea"/>
                  <a:sym typeface="Calibri" panose="020F0502020204030204" pitchFamily="34" charset="0"/>
                </a:rPr>
                <a:t>03</a:t>
              </a:r>
              <a:endParaRPr kumimoji="1" lang="en-US" altLang="zh-CN" sz="1400" b="1" kern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+mn-ea"/>
                <a:sym typeface="Calibri" panose="020F0502020204030204" pitchFamily="34" charset="0"/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8139" y="2958"/>
              <a:ext cx="651" cy="651"/>
            </a:xfrm>
            <a:prstGeom prst="ellipse">
              <a:avLst/>
            </a:prstGeom>
            <a:solidFill>
              <a:srgbClr val="393A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8139" y="3041"/>
              <a:ext cx="65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609600">
                <a:defRPr/>
              </a:pPr>
              <a:r>
                <a:rPr kumimoji="1" lang="en-US" altLang="zh-CN" sz="1400" b="1" kern="0">
                  <a:solidFill>
                    <a:schemeClr val="bg1"/>
                  </a:solidFill>
                  <a:latin typeface="+mj-lt"/>
                  <a:ea typeface="微软雅黑" panose="020B0503020204020204" pitchFamily="34" charset="-122"/>
                  <a:cs typeface="+mn-ea"/>
                  <a:sym typeface="Calibri" panose="020F0502020204030204" pitchFamily="34" charset="0"/>
                </a:rPr>
                <a:t>02</a:t>
              </a:r>
              <a:endParaRPr kumimoji="1" lang="en-US" altLang="zh-CN" sz="1400" b="1" kern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+mn-ea"/>
                <a:sym typeface="Calibri" panose="020F0502020204030204" pitchFamily="34" charset="0"/>
              </a:endParaRPr>
            </a:p>
          </p:txBody>
        </p:sp>
        <p:sp>
          <p:nvSpPr>
            <p:cNvPr id="48" name="椭圆 47"/>
            <p:cNvSpPr/>
            <p:nvPr/>
          </p:nvSpPr>
          <p:spPr>
            <a:xfrm>
              <a:off x="8139" y="1389"/>
              <a:ext cx="651" cy="651"/>
            </a:xfrm>
            <a:prstGeom prst="ellipse">
              <a:avLst/>
            </a:prstGeom>
            <a:solidFill>
              <a:srgbClr val="5AAD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8139" y="1472"/>
              <a:ext cx="65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609600">
                <a:defRPr/>
              </a:pPr>
              <a:r>
                <a:rPr kumimoji="1" lang="en-US" altLang="zh-CN" sz="1400" kern="0">
                  <a:solidFill>
                    <a:schemeClr val="bg1"/>
                  </a:solidFill>
                  <a:latin typeface="+mj-lt"/>
                  <a:ea typeface="微软雅黑" panose="020B0503020204020204" pitchFamily="34" charset="-122"/>
                  <a:cs typeface="+mn-ea"/>
                  <a:sym typeface="Calibri" panose="020F0502020204030204" pitchFamily="34" charset="0"/>
                </a:rPr>
                <a:t>01</a:t>
              </a:r>
              <a:endParaRPr kumimoji="1" lang="en-US" altLang="zh-CN" sz="1400" kern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+mn-ea"/>
                <a:sym typeface="Calibri" panose="020F0502020204030204" pitchFamily="34" charset="0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5609590" y="3556635"/>
            <a:ext cx="13690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 defTabSz="609600">
              <a:defRPr/>
            </a:pPr>
            <a:r>
              <a:rPr kumimoji="1" lang="en-US" altLang="zh-CN" sz="2000" b="1" kern="0">
                <a:solidFill>
                  <a:srgbClr val="39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Task Add</a:t>
            </a:r>
            <a:endParaRPr kumimoji="1" lang="en-US" altLang="zh-CN" sz="2000" b="1" kern="0">
              <a:solidFill>
                <a:srgbClr val="393A4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Calibri" panose="020F050202020403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609590" y="3989705"/>
            <a:ext cx="32981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defTabSz="609600">
              <a:defRPr/>
            </a:pPr>
            <a:r>
              <a:rPr kumimoji="1" lang="en-US" altLang="zh-CN" sz="1200" ker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基于历史数据进行日前新能源出力概率预测</a:t>
            </a:r>
            <a:endParaRPr kumimoji="1" lang="en-US" altLang="zh-CN" sz="1200" kern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微软雅黑" panose="020B0503020204020204" pitchFamily="34" charset="-122"/>
              <a:cs typeface="+mn-ea"/>
              <a:sym typeface="Calibri" panose="020F050202020403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106035" y="3649345"/>
            <a:ext cx="412750" cy="412750"/>
            <a:chOff x="8098" y="5719"/>
            <a:chExt cx="650" cy="650"/>
          </a:xfrm>
        </p:grpSpPr>
        <p:sp>
          <p:nvSpPr>
            <p:cNvPr id="6" name="椭圆 5"/>
            <p:cNvSpPr/>
            <p:nvPr/>
          </p:nvSpPr>
          <p:spPr>
            <a:xfrm>
              <a:off x="8098" y="5719"/>
              <a:ext cx="651" cy="651"/>
            </a:xfrm>
            <a:prstGeom prst="ellipse">
              <a:avLst/>
            </a:prstGeom>
            <a:solidFill>
              <a:srgbClr val="5AAD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8098" y="5804"/>
              <a:ext cx="65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ctr" defTabSz="609600">
                <a:defRPr/>
              </a:pPr>
              <a:r>
                <a:rPr kumimoji="1" lang="en-US" altLang="zh-CN" sz="1400" b="1" kern="0">
                  <a:solidFill>
                    <a:schemeClr val="bg1"/>
                  </a:solidFill>
                  <a:latin typeface="+mj-lt"/>
                  <a:ea typeface="微软雅黑" panose="020B0503020204020204" pitchFamily="34" charset="-122"/>
                  <a:cs typeface="+mn-ea"/>
                  <a:sym typeface="Calibri" panose="020F0502020204030204" pitchFamily="34" charset="0"/>
                </a:rPr>
                <a:t>04</a:t>
              </a:r>
              <a:endParaRPr kumimoji="1" lang="en-US" altLang="zh-CN" sz="1400" b="1" kern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+mn-ea"/>
                <a:sym typeface="Calibri" panose="020F050202020403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1856105" y="1993265"/>
            <a:ext cx="5431790" cy="1641475"/>
            <a:chOff x="1128" y="3355"/>
            <a:chExt cx="8554" cy="2585"/>
          </a:xfrm>
        </p:grpSpPr>
        <p:sp>
          <p:nvSpPr>
            <p:cNvPr id="2" name="矩形: 圆角 1"/>
            <p:cNvSpPr/>
            <p:nvPr/>
          </p:nvSpPr>
          <p:spPr>
            <a:xfrm rot="2700000">
              <a:off x="1297" y="3355"/>
              <a:ext cx="1590" cy="1590"/>
            </a:xfrm>
            <a:prstGeom prst="roundRect">
              <a:avLst/>
            </a:prstGeom>
            <a:solidFill>
              <a:srgbClr val="5AAD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: 圆角 13"/>
            <p:cNvSpPr/>
            <p:nvPr/>
          </p:nvSpPr>
          <p:spPr>
            <a:xfrm rot="2700000">
              <a:off x="4694" y="3355"/>
              <a:ext cx="1590" cy="1590"/>
            </a:xfrm>
            <a:prstGeom prst="roundRect">
              <a:avLst/>
            </a:prstGeom>
            <a:solidFill>
              <a:srgbClr val="393A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 rot="2700000">
              <a:off x="8092" y="3355"/>
              <a:ext cx="1590" cy="1590"/>
            </a:xfrm>
            <a:prstGeom prst="roundRect">
              <a:avLst/>
            </a:prstGeom>
            <a:solidFill>
              <a:srgbClr val="5AAD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 descr="e7d195523061f1c09e9d68d7cf438b91ef959ecb14fc25d26BBA7F7DBC18E55DFF4014AF651F0BF2569D4B6C1DA7F1A4683A481403BD872FC687266AD13265C1DE7C373772FD8728ABDD69ADD03BFF5BE2862BC891DBB79E0B47DAFC0B20EFAF77608A7FC7FF92CC026D93F7E06FB9001E334F7BA7038BEE38ADC10C0B12CB951E4686096DFFE0E7FF8AE1243663E330F405F91E3FFEC22E"/>
            <p:cNvSpPr txBox="1"/>
            <p:nvPr/>
          </p:nvSpPr>
          <p:spPr>
            <a:xfrm>
              <a:off x="1128" y="5410"/>
              <a:ext cx="1888" cy="5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>
                <a:defRPr/>
              </a:pPr>
              <a:r>
                <a:rPr lang="zh-CN" altLang="en-US" sz="1600" b="1">
                  <a:solidFill>
                    <a:srgbClr val="393A45"/>
                  </a:solidFill>
                  <a:latin typeface="+mj-ea"/>
                  <a:ea typeface="+mj-ea"/>
                </a:rPr>
                <a:t>数据预处理</a:t>
              </a:r>
              <a:endParaRPr lang="zh-CN" altLang="en-US" sz="1600" b="1">
                <a:solidFill>
                  <a:srgbClr val="393A45"/>
                </a:solidFill>
                <a:latin typeface="+mj-ea"/>
                <a:ea typeface="+mj-ea"/>
              </a:endParaRPr>
            </a:p>
          </p:txBody>
        </p:sp>
        <p:sp>
          <p:nvSpPr>
            <p:cNvPr id="22" name="文本框 21" descr="e7d195523061f1c09e9d68d7cf438b91ef959ecb14fc25d26BBA7F7DBC18E55DFF4014AF651F0BF2569D4B6C1DA7F1A4683A481403BD872FC687266AD13265C1DE7C373772FD8728ABDD69ADD03BFF5BE2862BC891DBB79E0B47DAFC0B20EFAF77608A7FC7FF92CC026D93F7E06FB9001E334F7BA7038BEE38ADC10C0B12CB951E4686096DFFE0E7FF8AE1243663E330F405F91E3FFEC22E"/>
            <p:cNvSpPr txBox="1"/>
            <p:nvPr/>
          </p:nvSpPr>
          <p:spPr>
            <a:xfrm>
              <a:off x="4643" y="5410"/>
              <a:ext cx="1568" cy="5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>
                <a:defRPr/>
              </a:pPr>
              <a:r>
                <a:rPr lang="zh-CN" altLang="en-US" sz="1600" b="1">
                  <a:solidFill>
                    <a:srgbClr val="393A45"/>
                  </a:solidFill>
                  <a:latin typeface="+mj-ea"/>
                  <a:ea typeface="+mj-ea"/>
                </a:rPr>
                <a:t>模型构建</a:t>
              </a:r>
              <a:endParaRPr lang="zh-CN" altLang="en-US" sz="1600" b="1">
                <a:solidFill>
                  <a:srgbClr val="393A45"/>
                </a:solidFill>
                <a:latin typeface="+mj-ea"/>
                <a:ea typeface="+mj-ea"/>
              </a:endParaRPr>
            </a:p>
          </p:txBody>
        </p:sp>
        <p:sp>
          <p:nvSpPr>
            <p:cNvPr id="24" name="文本框 23" descr="e7d195523061f1c09e9d68d7cf438b91ef959ecb14fc25d26BBA7F7DBC18E55DFF4014AF651F0BF2569D4B6C1DA7F1A4683A481403BD872FC687266AD13265C1DE7C373772FD8728ABDD69ADD03BFF5BE2862BC891DBB79E0B47DAFC0B20EFAF77608A7FC7FF92CC026D93F7E06FB9001E334F7BA7038BEE38ADC10C0B12CB951E4686096DFFE0E7FF8AE1243663E330F405F91E3FFEC22E"/>
            <p:cNvSpPr txBox="1"/>
            <p:nvPr/>
          </p:nvSpPr>
          <p:spPr>
            <a:xfrm>
              <a:off x="8045" y="5410"/>
              <a:ext cx="1568" cy="5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>
                <a:defRPr/>
              </a:pPr>
              <a:r>
                <a:rPr lang="zh-CN" altLang="en-US" sz="1600" b="1">
                  <a:solidFill>
                    <a:srgbClr val="393A45"/>
                  </a:solidFill>
                  <a:latin typeface="+mj-ea"/>
                  <a:ea typeface="+mj-ea"/>
                </a:rPr>
                <a:t>实验结果</a:t>
              </a:r>
              <a:endParaRPr lang="zh-CN" altLang="en-US" sz="1600" b="1">
                <a:solidFill>
                  <a:srgbClr val="393A45"/>
                </a:solidFill>
                <a:latin typeface="+mj-ea"/>
                <a:ea typeface="+mj-ea"/>
              </a:endParaRPr>
            </a:p>
          </p:txBody>
        </p:sp>
        <p:grpSp>
          <p:nvGrpSpPr>
            <p:cNvPr id="18" name="Group 8" descr="e7d195523061f1c09e9d68d7cf438b91ef959ecb14fc25d26BBA7F7DBC18E55DFF4014AF651F0BF2569D4B6C1DA7F1A4683A481403BD872FC687266AD13265C1DE7C373772FD8728ABDD69ADD03BFF5BE2862BC891DBB79E0B47DAFC0B20EFAF86558955B7FCCFA41E28A044B7497A4E125C32C7866AC7A0A29318354D69FB08035F876A7B69DF41D87DD94CF3B228A2C836566B61DAB7E6"/>
            <p:cNvGrpSpPr>
              <a:grpSpLocks noChangeAspect="1"/>
            </p:cNvGrpSpPr>
            <p:nvPr/>
          </p:nvGrpSpPr>
          <p:grpSpPr bwMode="auto">
            <a:xfrm rot="0">
              <a:off x="1781" y="3787"/>
              <a:ext cx="622" cy="725"/>
              <a:chOff x="2492" y="1167"/>
              <a:chExt cx="778" cy="907"/>
            </a:xfrm>
            <a:solidFill>
              <a:schemeClr val="bg1"/>
            </a:solidFill>
          </p:grpSpPr>
          <p:sp>
            <p:nvSpPr>
              <p:cNvPr id="19" name="Freeform 9"/>
              <p:cNvSpPr>
                <a:spLocks noEditPoints="1"/>
              </p:cNvSpPr>
              <p:nvPr/>
            </p:nvSpPr>
            <p:spPr bwMode="auto">
              <a:xfrm>
                <a:off x="2492" y="1167"/>
                <a:ext cx="778" cy="907"/>
              </a:xfrm>
              <a:custGeom>
                <a:avLst/>
                <a:gdLst>
                  <a:gd name="T0" fmla="*/ 579 w 636"/>
                  <a:gd name="T1" fmla="*/ 0 h 746"/>
                  <a:gd name="T2" fmla="*/ 57 w 636"/>
                  <a:gd name="T3" fmla="*/ 0 h 746"/>
                  <a:gd name="T4" fmla="*/ 0 w 636"/>
                  <a:gd name="T5" fmla="*/ 57 h 746"/>
                  <a:gd name="T6" fmla="*/ 0 w 636"/>
                  <a:gd name="T7" fmla="*/ 689 h 746"/>
                  <a:gd name="T8" fmla="*/ 57 w 636"/>
                  <a:gd name="T9" fmla="*/ 746 h 746"/>
                  <a:gd name="T10" fmla="*/ 579 w 636"/>
                  <a:gd name="T11" fmla="*/ 746 h 746"/>
                  <a:gd name="T12" fmla="*/ 636 w 636"/>
                  <a:gd name="T13" fmla="*/ 689 h 746"/>
                  <a:gd name="T14" fmla="*/ 636 w 636"/>
                  <a:gd name="T15" fmla="*/ 57 h 746"/>
                  <a:gd name="T16" fmla="*/ 579 w 636"/>
                  <a:gd name="T17" fmla="*/ 0 h 746"/>
                  <a:gd name="T18" fmla="*/ 43 w 636"/>
                  <a:gd name="T19" fmla="*/ 689 h 746"/>
                  <a:gd name="T20" fmla="*/ 43 w 636"/>
                  <a:gd name="T21" fmla="*/ 57 h 746"/>
                  <a:gd name="T22" fmla="*/ 57 w 636"/>
                  <a:gd name="T23" fmla="*/ 43 h 746"/>
                  <a:gd name="T24" fmla="*/ 94 w 636"/>
                  <a:gd name="T25" fmla="*/ 43 h 746"/>
                  <a:gd name="T26" fmla="*/ 94 w 636"/>
                  <a:gd name="T27" fmla="*/ 703 h 746"/>
                  <a:gd name="T28" fmla="*/ 57 w 636"/>
                  <a:gd name="T29" fmla="*/ 703 h 746"/>
                  <a:gd name="T30" fmla="*/ 43 w 636"/>
                  <a:gd name="T31" fmla="*/ 689 h 746"/>
                  <a:gd name="T32" fmla="*/ 593 w 636"/>
                  <a:gd name="T33" fmla="*/ 689 h 746"/>
                  <a:gd name="T34" fmla="*/ 579 w 636"/>
                  <a:gd name="T35" fmla="*/ 703 h 746"/>
                  <a:gd name="T36" fmla="*/ 138 w 636"/>
                  <a:gd name="T37" fmla="*/ 703 h 746"/>
                  <a:gd name="T38" fmla="*/ 138 w 636"/>
                  <a:gd name="T39" fmla="*/ 43 h 746"/>
                  <a:gd name="T40" fmla="*/ 579 w 636"/>
                  <a:gd name="T41" fmla="*/ 43 h 746"/>
                  <a:gd name="T42" fmla="*/ 593 w 636"/>
                  <a:gd name="T43" fmla="*/ 57 h 746"/>
                  <a:gd name="T44" fmla="*/ 593 w 636"/>
                  <a:gd name="T45" fmla="*/ 689 h 7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36" h="746">
                    <a:moveTo>
                      <a:pt x="579" y="0"/>
                    </a:moveTo>
                    <a:cubicBezTo>
                      <a:pt x="57" y="0"/>
                      <a:pt x="57" y="0"/>
                      <a:pt x="57" y="0"/>
                    </a:cubicBezTo>
                    <a:cubicBezTo>
                      <a:pt x="25" y="0"/>
                      <a:pt x="0" y="25"/>
                      <a:pt x="0" y="57"/>
                    </a:cubicBezTo>
                    <a:cubicBezTo>
                      <a:pt x="0" y="689"/>
                      <a:pt x="0" y="689"/>
                      <a:pt x="0" y="689"/>
                    </a:cubicBezTo>
                    <a:cubicBezTo>
                      <a:pt x="0" y="721"/>
                      <a:pt x="25" y="746"/>
                      <a:pt x="57" y="746"/>
                    </a:cubicBezTo>
                    <a:cubicBezTo>
                      <a:pt x="579" y="746"/>
                      <a:pt x="579" y="746"/>
                      <a:pt x="579" y="746"/>
                    </a:cubicBezTo>
                    <a:cubicBezTo>
                      <a:pt x="611" y="746"/>
                      <a:pt x="636" y="721"/>
                      <a:pt x="636" y="689"/>
                    </a:cubicBezTo>
                    <a:cubicBezTo>
                      <a:pt x="636" y="57"/>
                      <a:pt x="636" y="57"/>
                      <a:pt x="636" y="57"/>
                    </a:cubicBezTo>
                    <a:cubicBezTo>
                      <a:pt x="636" y="25"/>
                      <a:pt x="611" y="0"/>
                      <a:pt x="579" y="0"/>
                    </a:cubicBezTo>
                    <a:close/>
                    <a:moveTo>
                      <a:pt x="43" y="689"/>
                    </a:moveTo>
                    <a:cubicBezTo>
                      <a:pt x="43" y="57"/>
                      <a:pt x="43" y="57"/>
                      <a:pt x="43" y="57"/>
                    </a:cubicBezTo>
                    <a:cubicBezTo>
                      <a:pt x="43" y="49"/>
                      <a:pt x="49" y="43"/>
                      <a:pt x="57" y="43"/>
                    </a:cubicBezTo>
                    <a:cubicBezTo>
                      <a:pt x="94" y="43"/>
                      <a:pt x="94" y="43"/>
                      <a:pt x="94" y="43"/>
                    </a:cubicBezTo>
                    <a:cubicBezTo>
                      <a:pt x="94" y="703"/>
                      <a:pt x="94" y="703"/>
                      <a:pt x="94" y="703"/>
                    </a:cubicBezTo>
                    <a:cubicBezTo>
                      <a:pt x="57" y="703"/>
                      <a:pt x="57" y="703"/>
                      <a:pt x="57" y="703"/>
                    </a:cubicBezTo>
                    <a:cubicBezTo>
                      <a:pt x="49" y="703"/>
                      <a:pt x="43" y="697"/>
                      <a:pt x="43" y="689"/>
                    </a:cubicBezTo>
                    <a:close/>
                    <a:moveTo>
                      <a:pt x="593" y="689"/>
                    </a:moveTo>
                    <a:cubicBezTo>
                      <a:pt x="593" y="697"/>
                      <a:pt x="587" y="703"/>
                      <a:pt x="579" y="703"/>
                    </a:cubicBezTo>
                    <a:cubicBezTo>
                      <a:pt x="138" y="703"/>
                      <a:pt x="138" y="703"/>
                      <a:pt x="138" y="703"/>
                    </a:cubicBezTo>
                    <a:cubicBezTo>
                      <a:pt x="138" y="43"/>
                      <a:pt x="138" y="43"/>
                      <a:pt x="138" y="43"/>
                    </a:cubicBezTo>
                    <a:cubicBezTo>
                      <a:pt x="579" y="43"/>
                      <a:pt x="579" y="43"/>
                      <a:pt x="579" y="43"/>
                    </a:cubicBezTo>
                    <a:cubicBezTo>
                      <a:pt x="587" y="43"/>
                      <a:pt x="593" y="49"/>
                      <a:pt x="593" y="57"/>
                    </a:cubicBezTo>
                    <a:lnTo>
                      <a:pt x="593" y="68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" name="Rectangle 10"/>
              <p:cNvSpPr>
                <a:spLocks noChangeArrowheads="1"/>
              </p:cNvSpPr>
              <p:nvPr/>
            </p:nvSpPr>
            <p:spPr bwMode="auto">
              <a:xfrm>
                <a:off x="2694" y="1474"/>
                <a:ext cx="184" cy="5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Rectangle 11"/>
              <p:cNvSpPr>
                <a:spLocks noChangeArrowheads="1"/>
              </p:cNvSpPr>
              <p:nvPr/>
            </p:nvSpPr>
            <p:spPr bwMode="auto">
              <a:xfrm>
                <a:off x="2694" y="1352"/>
                <a:ext cx="245" cy="5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2968" y="1381"/>
                <a:ext cx="187" cy="606"/>
              </a:xfrm>
              <a:custGeom>
                <a:avLst/>
                <a:gdLst>
                  <a:gd name="T0" fmla="*/ 0 w 153"/>
                  <a:gd name="T1" fmla="*/ 76 h 498"/>
                  <a:gd name="T2" fmla="*/ 0 w 153"/>
                  <a:gd name="T3" fmla="*/ 441 h 498"/>
                  <a:gd name="T4" fmla="*/ 57 w 153"/>
                  <a:gd name="T5" fmla="*/ 498 h 498"/>
                  <a:gd name="T6" fmla="*/ 96 w 153"/>
                  <a:gd name="T7" fmla="*/ 498 h 498"/>
                  <a:gd name="T8" fmla="*/ 153 w 153"/>
                  <a:gd name="T9" fmla="*/ 441 h 498"/>
                  <a:gd name="T10" fmla="*/ 153 w 153"/>
                  <a:gd name="T11" fmla="*/ 76 h 498"/>
                  <a:gd name="T12" fmla="*/ 77 w 153"/>
                  <a:gd name="T13" fmla="*/ 0 h 498"/>
                  <a:gd name="T14" fmla="*/ 0 w 153"/>
                  <a:gd name="T15" fmla="*/ 76 h 498"/>
                  <a:gd name="T16" fmla="*/ 109 w 153"/>
                  <a:gd name="T17" fmla="*/ 441 h 498"/>
                  <a:gd name="T18" fmla="*/ 96 w 153"/>
                  <a:gd name="T19" fmla="*/ 454 h 498"/>
                  <a:gd name="T20" fmla="*/ 57 w 153"/>
                  <a:gd name="T21" fmla="*/ 454 h 498"/>
                  <a:gd name="T22" fmla="*/ 44 w 153"/>
                  <a:gd name="T23" fmla="*/ 441 h 498"/>
                  <a:gd name="T24" fmla="*/ 44 w 153"/>
                  <a:gd name="T25" fmla="*/ 94 h 498"/>
                  <a:gd name="T26" fmla="*/ 77 w 153"/>
                  <a:gd name="T27" fmla="*/ 62 h 498"/>
                  <a:gd name="T28" fmla="*/ 109 w 153"/>
                  <a:gd name="T29" fmla="*/ 94 h 498"/>
                  <a:gd name="T30" fmla="*/ 109 w 153"/>
                  <a:gd name="T31" fmla="*/ 441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53" h="498">
                    <a:moveTo>
                      <a:pt x="0" y="76"/>
                    </a:moveTo>
                    <a:cubicBezTo>
                      <a:pt x="0" y="441"/>
                      <a:pt x="0" y="441"/>
                      <a:pt x="0" y="441"/>
                    </a:cubicBezTo>
                    <a:cubicBezTo>
                      <a:pt x="0" y="472"/>
                      <a:pt x="26" y="498"/>
                      <a:pt x="57" y="498"/>
                    </a:cubicBezTo>
                    <a:cubicBezTo>
                      <a:pt x="96" y="498"/>
                      <a:pt x="96" y="498"/>
                      <a:pt x="96" y="498"/>
                    </a:cubicBezTo>
                    <a:cubicBezTo>
                      <a:pt x="128" y="498"/>
                      <a:pt x="153" y="472"/>
                      <a:pt x="153" y="441"/>
                    </a:cubicBezTo>
                    <a:cubicBezTo>
                      <a:pt x="153" y="76"/>
                      <a:pt x="153" y="76"/>
                      <a:pt x="153" y="76"/>
                    </a:cubicBezTo>
                    <a:cubicBezTo>
                      <a:pt x="77" y="0"/>
                      <a:pt x="77" y="0"/>
                      <a:pt x="77" y="0"/>
                    </a:cubicBezTo>
                    <a:lnTo>
                      <a:pt x="0" y="76"/>
                    </a:lnTo>
                    <a:close/>
                    <a:moveTo>
                      <a:pt x="109" y="441"/>
                    </a:moveTo>
                    <a:cubicBezTo>
                      <a:pt x="109" y="448"/>
                      <a:pt x="104" y="454"/>
                      <a:pt x="96" y="454"/>
                    </a:cubicBezTo>
                    <a:cubicBezTo>
                      <a:pt x="57" y="454"/>
                      <a:pt x="57" y="454"/>
                      <a:pt x="57" y="454"/>
                    </a:cubicBezTo>
                    <a:cubicBezTo>
                      <a:pt x="50" y="454"/>
                      <a:pt x="44" y="448"/>
                      <a:pt x="44" y="441"/>
                    </a:cubicBezTo>
                    <a:cubicBezTo>
                      <a:pt x="44" y="94"/>
                      <a:pt x="44" y="94"/>
                      <a:pt x="44" y="94"/>
                    </a:cubicBezTo>
                    <a:cubicBezTo>
                      <a:pt x="77" y="62"/>
                      <a:pt x="77" y="62"/>
                      <a:pt x="77" y="62"/>
                    </a:cubicBezTo>
                    <a:cubicBezTo>
                      <a:pt x="109" y="94"/>
                      <a:pt x="109" y="94"/>
                      <a:pt x="109" y="94"/>
                    </a:cubicBezTo>
                    <a:lnTo>
                      <a:pt x="109" y="4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pSp>
          <p:nvGrpSpPr>
            <p:cNvPr id="34" name="Group 20" descr="e7d195523061f1c09e9d68d7cf438b91ef959ecb14fc25d26BBA7F7DBC18E55DFF4014AF651F0BF2569D4B6C1DA7F1A4683A481403BD872FC687266AD13265C1DE7C373772FD8728ABDD69ADD03BFF5BE2862BC891DBB79E0B47DAFC0B20EFAF86558955B7FCCFA41E28A044B7497A4E125C32C7866AC7A0A29318354D69FB08035F876A7B69DF41D87DD94CF3B228A2C836566B61DAB7E6"/>
            <p:cNvGrpSpPr>
              <a:grpSpLocks noChangeAspect="1"/>
            </p:cNvGrpSpPr>
            <p:nvPr/>
          </p:nvGrpSpPr>
          <p:grpSpPr bwMode="auto">
            <a:xfrm rot="0">
              <a:off x="5025" y="3802"/>
              <a:ext cx="930" cy="696"/>
              <a:chOff x="2423" y="1278"/>
              <a:chExt cx="912" cy="683"/>
            </a:xfrm>
            <a:solidFill>
              <a:schemeClr val="bg1"/>
            </a:solidFill>
          </p:grpSpPr>
          <p:sp>
            <p:nvSpPr>
              <p:cNvPr id="35" name="Freeform 21"/>
              <p:cNvSpPr/>
              <p:nvPr/>
            </p:nvSpPr>
            <p:spPr bwMode="auto">
              <a:xfrm>
                <a:off x="2746" y="1582"/>
                <a:ext cx="265" cy="281"/>
              </a:xfrm>
              <a:custGeom>
                <a:avLst/>
                <a:gdLst>
                  <a:gd name="T0" fmla="*/ 0 w 265"/>
                  <a:gd name="T1" fmla="*/ 131 h 281"/>
                  <a:gd name="T2" fmla="*/ 38 w 265"/>
                  <a:gd name="T3" fmla="*/ 169 h 281"/>
                  <a:gd name="T4" fmla="*/ 107 w 265"/>
                  <a:gd name="T5" fmla="*/ 102 h 281"/>
                  <a:gd name="T6" fmla="*/ 105 w 265"/>
                  <a:gd name="T7" fmla="*/ 281 h 281"/>
                  <a:gd name="T8" fmla="*/ 159 w 265"/>
                  <a:gd name="T9" fmla="*/ 281 h 281"/>
                  <a:gd name="T10" fmla="*/ 159 w 265"/>
                  <a:gd name="T11" fmla="*/ 102 h 281"/>
                  <a:gd name="T12" fmla="*/ 227 w 265"/>
                  <a:gd name="T13" fmla="*/ 169 h 281"/>
                  <a:gd name="T14" fmla="*/ 265 w 265"/>
                  <a:gd name="T15" fmla="*/ 131 h 281"/>
                  <a:gd name="T16" fmla="*/ 132 w 265"/>
                  <a:gd name="T17" fmla="*/ 0 h 281"/>
                  <a:gd name="T18" fmla="*/ 0 w 265"/>
                  <a:gd name="T19" fmla="*/ 131 h 2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65" h="281">
                    <a:moveTo>
                      <a:pt x="0" y="131"/>
                    </a:moveTo>
                    <a:lnTo>
                      <a:pt x="38" y="169"/>
                    </a:lnTo>
                    <a:lnTo>
                      <a:pt x="107" y="102"/>
                    </a:lnTo>
                    <a:lnTo>
                      <a:pt x="105" y="281"/>
                    </a:lnTo>
                    <a:lnTo>
                      <a:pt x="159" y="281"/>
                    </a:lnTo>
                    <a:lnTo>
                      <a:pt x="159" y="102"/>
                    </a:lnTo>
                    <a:lnTo>
                      <a:pt x="227" y="169"/>
                    </a:lnTo>
                    <a:lnTo>
                      <a:pt x="265" y="131"/>
                    </a:lnTo>
                    <a:lnTo>
                      <a:pt x="132" y="0"/>
                    </a:lnTo>
                    <a:lnTo>
                      <a:pt x="0" y="1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6" name="Freeform 22"/>
              <p:cNvSpPr>
                <a:spLocks noEditPoints="1"/>
              </p:cNvSpPr>
              <p:nvPr/>
            </p:nvSpPr>
            <p:spPr bwMode="auto">
              <a:xfrm>
                <a:off x="2423" y="1278"/>
                <a:ext cx="912" cy="683"/>
              </a:xfrm>
              <a:custGeom>
                <a:avLst/>
                <a:gdLst>
                  <a:gd name="T0" fmla="*/ 692 w 747"/>
                  <a:gd name="T1" fmla="*/ 240 h 562"/>
                  <a:gd name="T2" fmla="*/ 579 w 747"/>
                  <a:gd name="T3" fmla="*/ 186 h 562"/>
                  <a:gd name="T4" fmla="*/ 520 w 747"/>
                  <a:gd name="T5" fmla="*/ 61 h 562"/>
                  <a:gd name="T6" fmla="*/ 374 w 747"/>
                  <a:gd name="T7" fmla="*/ 0 h 562"/>
                  <a:gd name="T8" fmla="*/ 228 w 747"/>
                  <a:gd name="T9" fmla="*/ 61 h 562"/>
                  <a:gd name="T10" fmla="*/ 168 w 747"/>
                  <a:gd name="T11" fmla="*/ 186 h 562"/>
                  <a:gd name="T12" fmla="*/ 55 w 747"/>
                  <a:gd name="T13" fmla="*/ 240 h 562"/>
                  <a:gd name="T14" fmla="*/ 0 w 747"/>
                  <a:gd name="T15" fmla="*/ 374 h 562"/>
                  <a:gd name="T16" fmla="*/ 55 w 747"/>
                  <a:gd name="T17" fmla="*/ 507 h 562"/>
                  <a:gd name="T18" fmla="*/ 189 w 747"/>
                  <a:gd name="T19" fmla="*/ 562 h 562"/>
                  <a:gd name="T20" fmla="*/ 559 w 747"/>
                  <a:gd name="T21" fmla="*/ 562 h 562"/>
                  <a:gd name="T22" fmla="*/ 692 w 747"/>
                  <a:gd name="T23" fmla="*/ 507 h 562"/>
                  <a:gd name="T24" fmla="*/ 747 w 747"/>
                  <a:gd name="T25" fmla="*/ 374 h 562"/>
                  <a:gd name="T26" fmla="*/ 692 w 747"/>
                  <a:gd name="T27" fmla="*/ 240 h 562"/>
                  <a:gd name="T28" fmla="*/ 559 w 747"/>
                  <a:gd name="T29" fmla="*/ 518 h 562"/>
                  <a:gd name="T30" fmla="*/ 189 w 747"/>
                  <a:gd name="T31" fmla="*/ 518 h 562"/>
                  <a:gd name="T32" fmla="*/ 44 w 747"/>
                  <a:gd name="T33" fmla="*/ 374 h 562"/>
                  <a:gd name="T34" fmla="*/ 188 w 747"/>
                  <a:gd name="T35" fmla="*/ 229 h 562"/>
                  <a:gd name="T36" fmla="*/ 211 w 747"/>
                  <a:gd name="T37" fmla="*/ 229 h 562"/>
                  <a:gd name="T38" fmla="*/ 211 w 747"/>
                  <a:gd name="T39" fmla="*/ 207 h 562"/>
                  <a:gd name="T40" fmla="*/ 211 w 747"/>
                  <a:gd name="T41" fmla="*/ 207 h 562"/>
                  <a:gd name="T42" fmla="*/ 374 w 747"/>
                  <a:gd name="T43" fmla="*/ 44 h 562"/>
                  <a:gd name="T44" fmla="*/ 536 w 747"/>
                  <a:gd name="T45" fmla="*/ 206 h 562"/>
                  <a:gd name="T46" fmla="*/ 536 w 747"/>
                  <a:gd name="T47" fmla="*/ 207 h 562"/>
                  <a:gd name="T48" fmla="*/ 536 w 747"/>
                  <a:gd name="T49" fmla="*/ 229 h 562"/>
                  <a:gd name="T50" fmla="*/ 558 w 747"/>
                  <a:gd name="T51" fmla="*/ 229 h 562"/>
                  <a:gd name="T52" fmla="*/ 559 w 747"/>
                  <a:gd name="T53" fmla="*/ 229 h 562"/>
                  <a:gd name="T54" fmla="*/ 704 w 747"/>
                  <a:gd name="T55" fmla="*/ 374 h 562"/>
                  <a:gd name="T56" fmla="*/ 559 w 747"/>
                  <a:gd name="T57" fmla="*/ 518 h 5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747" h="562">
                    <a:moveTo>
                      <a:pt x="692" y="240"/>
                    </a:moveTo>
                    <a:cubicBezTo>
                      <a:pt x="661" y="210"/>
                      <a:pt x="622" y="191"/>
                      <a:pt x="579" y="186"/>
                    </a:cubicBezTo>
                    <a:cubicBezTo>
                      <a:pt x="574" y="139"/>
                      <a:pt x="554" y="95"/>
                      <a:pt x="520" y="61"/>
                    </a:cubicBezTo>
                    <a:cubicBezTo>
                      <a:pt x="481" y="22"/>
                      <a:pt x="429" y="0"/>
                      <a:pt x="374" y="0"/>
                    </a:cubicBezTo>
                    <a:cubicBezTo>
                      <a:pt x="318" y="0"/>
                      <a:pt x="267" y="22"/>
                      <a:pt x="228" y="61"/>
                    </a:cubicBezTo>
                    <a:cubicBezTo>
                      <a:pt x="193" y="95"/>
                      <a:pt x="173" y="139"/>
                      <a:pt x="168" y="186"/>
                    </a:cubicBezTo>
                    <a:cubicBezTo>
                      <a:pt x="125" y="191"/>
                      <a:pt x="86" y="210"/>
                      <a:pt x="55" y="240"/>
                    </a:cubicBezTo>
                    <a:cubicBezTo>
                      <a:pt x="20" y="276"/>
                      <a:pt x="0" y="323"/>
                      <a:pt x="0" y="374"/>
                    </a:cubicBezTo>
                    <a:cubicBezTo>
                      <a:pt x="0" y="424"/>
                      <a:pt x="20" y="471"/>
                      <a:pt x="55" y="507"/>
                    </a:cubicBezTo>
                    <a:cubicBezTo>
                      <a:pt x="91" y="542"/>
                      <a:pt x="138" y="562"/>
                      <a:pt x="189" y="562"/>
                    </a:cubicBezTo>
                    <a:cubicBezTo>
                      <a:pt x="559" y="562"/>
                      <a:pt x="559" y="562"/>
                      <a:pt x="559" y="562"/>
                    </a:cubicBezTo>
                    <a:cubicBezTo>
                      <a:pt x="609" y="562"/>
                      <a:pt x="657" y="542"/>
                      <a:pt x="692" y="507"/>
                    </a:cubicBezTo>
                    <a:cubicBezTo>
                      <a:pt x="728" y="471"/>
                      <a:pt x="747" y="424"/>
                      <a:pt x="747" y="374"/>
                    </a:cubicBezTo>
                    <a:cubicBezTo>
                      <a:pt x="747" y="323"/>
                      <a:pt x="728" y="276"/>
                      <a:pt x="692" y="240"/>
                    </a:cubicBezTo>
                    <a:close/>
                    <a:moveTo>
                      <a:pt x="559" y="518"/>
                    </a:moveTo>
                    <a:cubicBezTo>
                      <a:pt x="189" y="518"/>
                      <a:pt x="189" y="518"/>
                      <a:pt x="189" y="518"/>
                    </a:cubicBezTo>
                    <a:cubicBezTo>
                      <a:pt x="109" y="518"/>
                      <a:pt x="44" y="453"/>
                      <a:pt x="44" y="374"/>
                    </a:cubicBezTo>
                    <a:cubicBezTo>
                      <a:pt x="44" y="294"/>
                      <a:pt x="109" y="229"/>
                      <a:pt x="188" y="229"/>
                    </a:cubicBezTo>
                    <a:cubicBezTo>
                      <a:pt x="211" y="229"/>
                      <a:pt x="211" y="229"/>
                      <a:pt x="211" y="229"/>
                    </a:cubicBezTo>
                    <a:cubicBezTo>
                      <a:pt x="211" y="207"/>
                      <a:pt x="211" y="207"/>
                      <a:pt x="211" y="207"/>
                    </a:cubicBezTo>
                    <a:cubicBezTo>
                      <a:pt x="211" y="207"/>
                      <a:pt x="211" y="207"/>
                      <a:pt x="211" y="207"/>
                    </a:cubicBezTo>
                    <a:cubicBezTo>
                      <a:pt x="211" y="117"/>
                      <a:pt x="284" y="44"/>
                      <a:pt x="374" y="44"/>
                    </a:cubicBezTo>
                    <a:cubicBezTo>
                      <a:pt x="463" y="44"/>
                      <a:pt x="536" y="117"/>
                      <a:pt x="536" y="206"/>
                    </a:cubicBezTo>
                    <a:cubicBezTo>
                      <a:pt x="536" y="207"/>
                      <a:pt x="536" y="207"/>
                      <a:pt x="536" y="207"/>
                    </a:cubicBezTo>
                    <a:cubicBezTo>
                      <a:pt x="536" y="229"/>
                      <a:pt x="536" y="229"/>
                      <a:pt x="536" y="229"/>
                    </a:cubicBezTo>
                    <a:cubicBezTo>
                      <a:pt x="558" y="229"/>
                      <a:pt x="558" y="229"/>
                      <a:pt x="558" y="229"/>
                    </a:cubicBezTo>
                    <a:cubicBezTo>
                      <a:pt x="559" y="229"/>
                      <a:pt x="559" y="229"/>
                      <a:pt x="559" y="229"/>
                    </a:cubicBezTo>
                    <a:cubicBezTo>
                      <a:pt x="639" y="229"/>
                      <a:pt x="704" y="294"/>
                      <a:pt x="704" y="374"/>
                    </a:cubicBezTo>
                    <a:cubicBezTo>
                      <a:pt x="704" y="453"/>
                      <a:pt x="639" y="518"/>
                      <a:pt x="559" y="5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37" name="Freeform 5" descr="e7d195523061f1c09e9d68d7cf438b91ef959ecb14fc25d26BBA7F7DBC18E55DFF4014AF651F0BF2569D4B6C1DA7F1A4683A481403BD872FC687266AD13265C1DE7C373772FD8728ABDD69ADD03BFF5BE2862BC891DBB79E0B47DAFC0B20EFAF86558955B7FCCFA41E28A044B7497A4E125C32C7866AC7A0A29318354D69FB08035F876A7B69DF41D87DD94CF3B228A2C836566B61DAB7E6"/>
            <p:cNvSpPr>
              <a:spLocks noEditPoints="1"/>
            </p:cNvSpPr>
            <p:nvPr/>
          </p:nvSpPr>
          <p:spPr bwMode="auto">
            <a:xfrm>
              <a:off x="8537" y="3848"/>
              <a:ext cx="707" cy="603"/>
            </a:xfrm>
            <a:custGeom>
              <a:avLst/>
              <a:gdLst>
                <a:gd name="T0" fmla="*/ 689 w 746"/>
                <a:gd name="T1" fmla="*/ 125 h 638"/>
                <a:gd name="T2" fmla="*/ 552 w 746"/>
                <a:gd name="T3" fmla="*/ 125 h 638"/>
                <a:gd name="T4" fmla="*/ 552 w 746"/>
                <a:gd name="T5" fmla="*/ 57 h 638"/>
                <a:gd name="T6" fmla="*/ 495 w 746"/>
                <a:gd name="T7" fmla="*/ 0 h 638"/>
                <a:gd name="T8" fmla="*/ 253 w 746"/>
                <a:gd name="T9" fmla="*/ 0 h 638"/>
                <a:gd name="T10" fmla="*/ 196 w 746"/>
                <a:gd name="T11" fmla="*/ 57 h 638"/>
                <a:gd name="T12" fmla="*/ 196 w 746"/>
                <a:gd name="T13" fmla="*/ 125 h 638"/>
                <a:gd name="T14" fmla="*/ 57 w 746"/>
                <a:gd name="T15" fmla="*/ 125 h 638"/>
                <a:gd name="T16" fmla="*/ 0 w 746"/>
                <a:gd name="T17" fmla="*/ 182 h 638"/>
                <a:gd name="T18" fmla="*/ 0 w 746"/>
                <a:gd name="T19" fmla="*/ 581 h 638"/>
                <a:gd name="T20" fmla="*/ 57 w 746"/>
                <a:gd name="T21" fmla="*/ 638 h 638"/>
                <a:gd name="T22" fmla="*/ 689 w 746"/>
                <a:gd name="T23" fmla="*/ 638 h 638"/>
                <a:gd name="T24" fmla="*/ 746 w 746"/>
                <a:gd name="T25" fmla="*/ 581 h 638"/>
                <a:gd name="T26" fmla="*/ 746 w 746"/>
                <a:gd name="T27" fmla="*/ 182 h 638"/>
                <a:gd name="T28" fmla="*/ 689 w 746"/>
                <a:gd name="T29" fmla="*/ 125 h 638"/>
                <a:gd name="T30" fmla="*/ 239 w 746"/>
                <a:gd name="T31" fmla="*/ 57 h 638"/>
                <a:gd name="T32" fmla="*/ 253 w 746"/>
                <a:gd name="T33" fmla="*/ 44 h 638"/>
                <a:gd name="T34" fmla="*/ 495 w 746"/>
                <a:gd name="T35" fmla="*/ 44 h 638"/>
                <a:gd name="T36" fmla="*/ 508 w 746"/>
                <a:gd name="T37" fmla="*/ 57 h 638"/>
                <a:gd name="T38" fmla="*/ 508 w 746"/>
                <a:gd name="T39" fmla="*/ 125 h 638"/>
                <a:gd name="T40" fmla="*/ 239 w 746"/>
                <a:gd name="T41" fmla="*/ 125 h 638"/>
                <a:gd name="T42" fmla="*/ 239 w 746"/>
                <a:gd name="T43" fmla="*/ 57 h 638"/>
                <a:gd name="T44" fmla="*/ 57 w 746"/>
                <a:gd name="T45" fmla="*/ 169 h 638"/>
                <a:gd name="T46" fmla="*/ 689 w 746"/>
                <a:gd name="T47" fmla="*/ 169 h 638"/>
                <a:gd name="T48" fmla="*/ 703 w 746"/>
                <a:gd name="T49" fmla="*/ 182 h 638"/>
                <a:gd name="T50" fmla="*/ 703 w 746"/>
                <a:gd name="T51" fmla="*/ 295 h 638"/>
                <a:gd name="T52" fmla="*/ 545 w 746"/>
                <a:gd name="T53" fmla="*/ 295 h 638"/>
                <a:gd name="T54" fmla="*/ 545 w 746"/>
                <a:gd name="T55" fmla="*/ 267 h 638"/>
                <a:gd name="T56" fmla="*/ 501 w 746"/>
                <a:gd name="T57" fmla="*/ 267 h 638"/>
                <a:gd name="T58" fmla="*/ 501 w 746"/>
                <a:gd name="T59" fmla="*/ 295 h 638"/>
                <a:gd name="T60" fmla="*/ 245 w 746"/>
                <a:gd name="T61" fmla="*/ 295 h 638"/>
                <a:gd name="T62" fmla="*/ 245 w 746"/>
                <a:gd name="T63" fmla="*/ 266 h 638"/>
                <a:gd name="T64" fmla="*/ 201 w 746"/>
                <a:gd name="T65" fmla="*/ 266 h 638"/>
                <a:gd name="T66" fmla="*/ 201 w 746"/>
                <a:gd name="T67" fmla="*/ 295 h 638"/>
                <a:gd name="T68" fmla="*/ 43 w 746"/>
                <a:gd name="T69" fmla="*/ 295 h 638"/>
                <a:gd name="T70" fmla="*/ 43 w 746"/>
                <a:gd name="T71" fmla="*/ 182 h 638"/>
                <a:gd name="T72" fmla="*/ 57 w 746"/>
                <a:gd name="T73" fmla="*/ 169 h 638"/>
                <a:gd name="T74" fmla="*/ 689 w 746"/>
                <a:gd name="T75" fmla="*/ 594 h 638"/>
                <a:gd name="T76" fmla="*/ 57 w 746"/>
                <a:gd name="T77" fmla="*/ 594 h 638"/>
                <a:gd name="T78" fmla="*/ 43 w 746"/>
                <a:gd name="T79" fmla="*/ 581 h 638"/>
                <a:gd name="T80" fmla="*/ 43 w 746"/>
                <a:gd name="T81" fmla="*/ 338 h 638"/>
                <a:gd name="T82" fmla="*/ 201 w 746"/>
                <a:gd name="T83" fmla="*/ 338 h 638"/>
                <a:gd name="T84" fmla="*/ 201 w 746"/>
                <a:gd name="T85" fmla="*/ 368 h 638"/>
                <a:gd name="T86" fmla="*/ 245 w 746"/>
                <a:gd name="T87" fmla="*/ 368 h 638"/>
                <a:gd name="T88" fmla="*/ 245 w 746"/>
                <a:gd name="T89" fmla="*/ 338 h 638"/>
                <a:gd name="T90" fmla="*/ 501 w 746"/>
                <a:gd name="T91" fmla="*/ 338 h 638"/>
                <a:gd name="T92" fmla="*/ 501 w 746"/>
                <a:gd name="T93" fmla="*/ 369 h 638"/>
                <a:gd name="T94" fmla="*/ 545 w 746"/>
                <a:gd name="T95" fmla="*/ 369 h 638"/>
                <a:gd name="T96" fmla="*/ 545 w 746"/>
                <a:gd name="T97" fmla="*/ 338 h 638"/>
                <a:gd name="T98" fmla="*/ 703 w 746"/>
                <a:gd name="T99" fmla="*/ 338 h 638"/>
                <a:gd name="T100" fmla="*/ 703 w 746"/>
                <a:gd name="T101" fmla="*/ 581 h 638"/>
                <a:gd name="T102" fmla="*/ 689 w 746"/>
                <a:gd name="T103" fmla="*/ 594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46" h="638">
                  <a:moveTo>
                    <a:pt x="689" y="125"/>
                  </a:moveTo>
                  <a:cubicBezTo>
                    <a:pt x="552" y="125"/>
                    <a:pt x="552" y="125"/>
                    <a:pt x="552" y="125"/>
                  </a:cubicBezTo>
                  <a:cubicBezTo>
                    <a:pt x="552" y="57"/>
                    <a:pt x="552" y="57"/>
                    <a:pt x="552" y="57"/>
                  </a:cubicBezTo>
                  <a:cubicBezTo>
                    <a:pt x="552" y="26"/>
                    <a:pt x="526" y="0"/>
                    <a:pt x="495" y="0"/>
                  </a:cubicBezTo>
                  <a:cubicBezTo>
                    <a:pt x="253" y="0"/>
                    <a:pt x="253" y="0"/>
                    <a:pt x="253" y="0"/>
                  </a:cubicBezTo>
                  <a:cubicBezTo>
                    <a:pt x="221" y="0"/>
                    <a:pt x="196" y="26"/>
                    <a:pt x="196" y="57"/>
                  </a:cubicBezTo>
                  <a:cubicBezTo>
                    <a:pt x="196" y="125"/>
                    <a:pt x="196" y="125"/>
                    <a:pt x="196" y="125"/>
                  </a:cubicBezTo>
                  <a:cubicBezTo>
                    <a:pt x="57" y="125"/>
                    <a:pt x="57" y="125"/>
                    <a:pt x="57" y="125"/>
                  </a:cubicBezTo>
                  <a:cubicBezTo>
                    <a:pt x="25" y="125"/>
                    <a:pt x="0" y="151"/>
                    <a:pt x="0" y="182"/>
                  </a:cubicBezTo>
                  <a:cubicBezTo>
                    <a:pt x="0" y="581"/>
                    <a:pt x="0" y="581"/>
                    <a:pt x="0" y="581"/>
                  </a:cubicBezTo>
                  <a:cubicBezTo>
                    <a:pt x="0" y="612"/>
                    <a:pt x="25" y="638"/>
                    <a:pt x="57" y="638"/>
                  </a:cubicBezTo>
                  <a:cubicBezTo>
                    <a:pt x="689" y="638"/>
                    <a:pt x="689" y="638"/>
                    <a:pt x="689" y="638"/>
                  </a:cubicBezTo>
                  <a:cubicBezTo>
                    <a:pt x="721" y="638"/>
                    <a:pt x="746" y="612"/>
                    <a:pt x="746" y="581"/>
                  </a:cubicBezTo>
                  <a:cubicBezTo>
                    <a:pt x="746" y="182"/>
                    <a:pt x="746" y="182"/>
                    <a:pt x="746" y="182"/>
                  </a:cubicBezTo>
                  <a:cubicBezTo>
                    <a:pt x="746" y="151"/>
                    <a:pt x="721" y="125"/>
                    <a:pt x="689" y="125"/>
                  </a:cubicBezTo>
                  <a:close/>
                  <a:moveTo>
                    <a:pt x="239" y="57"/>
                  </a:moveTo>
                  <a:cubicBezTo>
                    <a:pt x="239" y="50"/>
                    <a:pt x="245" y="44"/>
                    <a:pt x="253" y="44"/>
                  </a:cubicBezTo>
                  <a:cubicBezTo>
                    <a:pt x="495" y="44"/>
                    <a:pt x="495" y="44"/>
                    <a:pt x="495" y="44"/>
                  </a:cubicBezTo>
                  <a:cubicBezTo>
                    <a:pt x="502" y="44"/>
                    <a:pt x="508" y="50"/>
                    <a:pt x="508" y="57"/>
                  </a:cubicBezTo>
                  <a:cubicBezTo>
                    <a:pt x="508" y="125"/>
                    <a:pt x="508" y="125"/>
                    <a:pt x="508" y="125"/>
                  </a:cubicBezTo>
                  <a:cubicBezTo>
                    <a:pt x="239" y="125"/>
                    <a:pt x="239" y="125"/>
                    <a:pt x="239" y="125"/>
                  </a:cubicBezTo>
                  <a:lnTo>
                    <a:pt x="239" y="57"/>
                  </a:lnTo>
                  <a:close/>
                  <a:moveTo>
                    <a:pt x="57" y="169"/>
                  </a:moveTo>
                  <a:cubicBezTo>
                    <a:pt x="689" y="169"/>
                    <a:pt x="689" y="169"/>
                    <a:pt x="689" y="169"/>
                  </a:cubicBezTo>
                  <a:cubicBezTo>
                    <a:pt x="697" y="169"/>
                    <a:pt x="703" y="175"/>
                    <a:pt x="703" y="182"/>
                  </a:cubicBezTo>
                  <a:cubicBezTo>
                    <a:pt x="703" y="295"/>
                    <a:pt x="703" y="295"/>
                    <a:pt x="703" y="295"/>
                  </a:cubicBezTo>
                  <a:cubicBezTo>
                    <a:pt x="545" y="295"/>
                    <a:pt x="545" y="295"/>
                    <a:pt x="545" y="295"/>
                  </a:cubicBezTo>
                  <a:cubicBezTo>
                    <a:pt x="545" y="267"/>
                    <a:pt x="545" y="267"/>
                    <a:pt x="545" y="267"/>
                  </a:cubicBezTo>
                  <a:cubicBezTo>
                    <a:pt x="501" y="267"/>
                    <a:pt x="501" y="267"/>
                    <a:pt x="501" y="267"/>
                  </a:cubicBezTo>
                  <a:cubicBezTo>
                    <a:pt x="501" y="295"/>
                    <a:pt x="501" y="295"/>
                    <a:pt x="501" y="295"/>
                  </a:cubicBezTo>
                  <a:cubicBezTo>
                    <a:pt x="245" y="295"/>
                    <a:pt x="245" y="295"/>
                    <a:pt x="245" y="295"/>
                  </a:cubicBezTo>
                  <a:cubicBezTo>
                    <a:pt x="245" y="266"/>
                    <a:pt x="245" y="266"/>
                    <a:pt x="245" y="266"/>
                  </a:cubicBezTo>
                  <a:cubicBezTo>
                    <a:pt x="201" y="266"/>
                    <a:pt x="201" y="266"/>
                    <a:pt x="201" y="266"/>
                  </a:cubicBezTo>
                  <a:cubicBezTo>
                    <a:pt x="201" y="295"/>
                    <a:pt x="201" y="295"/>
                    <a:pt x="201" y="295"/>
                  </a:cubicBezTo>
                  <a:cubicBezTo>
                    <a:pt x="43" y="295"/>
                    <a:pt x="43" y="295"/>
                    <a:pt x="43" y="295"/>
                  </a:cubicBezTo>
                  <a:cubicBezTo>
                    <a:pt x="43" y="182"/>
                    <a:pt x="43" y="182"/>
                    <a:pt x="43" y="182"/>
                  </a:cubicBezTo>
                  <a:cubicBezTo>
                    <a:pt x="43" y="175"/>
                    <a:pt x="49" y="169"/>
                    <a:pt x="57" y="169"/>
                  </a:cubicBezTo>
                  <a:close/>
                  <a:moveTo>
                    <a:pt x="689" y="594"/>
                  </a:moveTo>
                  <a:cubicBezTo>
                    <a:pt x="57" y="594"/>
                    <a:pt x="57" y="594"/>
                    <a:pt x="57" y="594"/>
                  </a:cubicBezTo>
                  <a:cubicBezTo>
                    <a:pt x="49" y="594"/>
                    <a:pt x="43" y="588"/>
                    <a:pt x="43" y="581"/>
                  </a:cubicBezTo>
                  <a:cubicBezTo>
                    <a:pt x="43" y="338"/>
                    <a:pt x="43" y="338"/>
                    <a:pt x="43" y="338"/>
                  </a:cubicBezTo>
                  <a:cubicBezTo>
                    <a:pt x="201" y="338"/>
                    <a:pt x="201" y="338"/>
                    <a:pt x="201" y="338"/>
                  </a:cubicBezTo>
                  <a:cubicBezTo>
                    <a:pt x="201" y="368"/>
                    <a:pt x="201" y="368"/>
                    <a:pt x="201" y="368"/>
                  </a:cubicBezTo>
                  <a:cubicBezTo>
                    <a:pt x="245" y="368"/>
                    <a:pt x="245" y="368"/>
                    <a:pt x="245" y="368"/>
                  </a:cubicBezTo>
                  <a:cubicBezTo>
                    <a:pt x="245" y="338"/>
                    <a:pt x="245" y="338"/>
                    <a:pt x="245" y="338"/>
                  </a:cubicBezTo>
                  <a:cubicBezTo>
                    <a:pt x="501" y="338"/>
                    <a:pt x="501" y="338"/>
                    <a:pt x="501" y="338"/>
                  </a:cubicBezTo>
                  <a:cubicBezTo>
                    <a:pt x="501" y="369"/>
                    <a:pt x="501" y="369"/>
                    <a:pt x="501" y="369"/>
                  </a:cubicBezTo>
                  <a:cubicBezTo>
                    <a:pt x="545" y="369"/>
                    <a:pt x="545" y="369"/>
                    <a:pt x="545" y="369"/>
                  </a:cubicBezTo>
                  <a:cubicBezTo>
                    <a:pt x="545" y="338"/>
                    <a:pt x="545" y="338"/>
                    <a:pt x="545" y="338"/>
                  </a:cubicBezTo>
                  <a:cubicBezTo>
                    <a:pt x="703" y="338"/>
                    <a:pt x="703" y="338"/>
                    <a:pt x="703" y="338"/>
                  </a:cubicBezTo>
                  <a:cubicBezTo>
                    <a:pt x="703" y="581"/>
                    <a:pt x="703" y="581"/>
                    <a:pt x="703" y="581"/>
                  </a:cubicBezTo>
                  <a:cubicBezTo>
                    <a:pt x="703" y="588"/>
                    <a:pt x="697" y="594"/>
                    <a:pt x="689" y="59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0" y="0"/>
            <a:ext cx="3345815" cy="810895"/>
            <a:chOff x="0" y="0"/>
            <a:chExt cx="5269" cy="1277"/>
          </a:xfrm>
        </p:grpSpPr>
        <p:sp>
          <p:nvSpPr>
            <p:cNvPr id="5" name="矩形 4"/>
            <p:cNvSpPr/>
            <p:nvPr/>
          </p:nvSpPr>
          <p:spPr>
            <a:xfrm>
              <a:off x="0" y="0"/>
              <a:ext cx="1781" cy="725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en-US" altLang="zh-CN" sz="2400" b="1">
                  <a:solidFill>
                    <a:srgbClr val="393A45"/>
                  </a:solidFill>
                  <a:latin typeface="+mj-ea"/>
                  <a:ea typeface="+mj-ea"/>
                  <a:sym typeface="+mn-lt"/>
                </a:rPr>
                <a:t>Task 1</a:t>
              </a:r>
              <a:endParaRPr lang="en-US" altLang="zh-CN" sz="2400" b="1">
                <a:solidFill>
                  <a:srgbClr val="393A45"/>
                </a:soli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6" name="Rectangle 120"/>
            <p:cNvSpPr/>
            <p:nvPr/>
          </p:nvSpPr>
          <p:spPr>
            <a:xfrm>
              <a:off x="0" y="794"/>
              <a:ext cx="5269" cy="483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defTabSz="609600">
                <a:defRPr/>
              </a:pPr>
              <a:r>
                <a:rPr kumimoji="1" lang="en-US" altLang="zh-CN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微软雅黑" panose="020B0503020204020204" pitchFamily="34" charset="-122"/>
                  <a:cs typeface="+mn-ea"/>
                  <a:sym typeface="Calibri" panose="020F0502020204030204" pitchFamily="34" charset="0"/>
                </a:rPr>
                <a:t>基于历史数据的日前新能源出力预测</a:t>
              </a:r>
              <a:endParaRPr kumimoji="1" lang="en-US" altLang="zh-CN" sz="1400" b="1" ker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微软雅黑" panose="020B0503020204020204" pitchFamily="34" charset="-122"/>
                <a:cs typeface="+mn-ea"/>
                <a:sym typeface="Calibri" panose="020F050202020403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0"/>
            <a:ext cx="3148330" cy="810895"/>
            <a:chOff x="0" y="0"/>
            <a:chExt cx="4958" cy="1277"/>
          </a:xfrm>
        </p:grpSpPr>
        <p:sp>
          <p:nvSpPr>
            <p:cNvPr id="5" name="矩形 4"/>
            <p:cNvSpPr/>
            <p:nvPr/>
          </p:nvSpPr>
          <p:spPr>
            <a:xfrm>
              <a:off x="0" y="0"/>
              <a:ext cx="2292" cy="725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en-US" altLang="zh-CN" sz="2400" b="1">
                  <a:solidFill>
                    <a:srgbClr val="393A45"/>
                  </a:solidFill>
                  <a:latin typeface="+mj-ea"/>
                  <a:ea typeface="+mj-ea"/>
                  <a:sym typeface="+mn-lt"/>
                </a:rPr>
                <a:t>Task 1_1</a:t>
              </a:r>
              <a:endParaRPr lang="en-US" altLang="zh-CN" sz="2400" b="1">
                <a:solidFill>
                  <a:srgbClr val="393A45"/>
                </a:soli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6" name="Rectangle 120"/>
            <p:cNvSpPr/>
            <p:nvPr/>
          </p:nvSpPr>
          <p:spPr>
            <a:xfrm>
              <a:off x="0" y="794"/>
              <a:ext cx="4958" cy="483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defTabSz="609600">
                <a:defRPr/>
              </a:pPr>
              <a:r>
                <a:rPr kumimoji="1" lang="en-US" altLang="zh-CN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微软雅黑" panose="020B0503020204020204" pitchFamily="34" charset="-122"/>
                  <a:cs typeface="+mn-ea"/>
                  <a:sym typeface="Calibri" panose="020F0502020204030204" pitchFamily="34" charset="0"/>
                </a:rPr>
                <a:t>基于历史数据的日前新能源出力预测</a:t>
              </a:r>
              <a:endParaRPr kumimoji="1" lang="en-US" altLang="zh-CN" sz="1400" b="1" ker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微软雅黑" panose="020B0503020204020204" pitchFamily="34" charset="-122"/>
                <a:cs typeface="+mn-ea"/>
                <a:sym typeface="Calibri" panose="020F0502020204030204" pitchFamily="34" charset="0"/>
              </a:endParaRPr>
            </a:p>
          </p:txBody>
        </p:sp>
      </p:grp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3390265" y="909320"/>
            <a:ext cx="2363470" cy="334010"/>
          </a:xfrm>
        </p:spPr>
        <p:txBody>
          <a:bodyPr>
            <a:normAutofit fontScale="90000"/>
          </a:bodyPr>
          <a:p>
            <a:pPr algn="ctr"/>
            <a:r>
              <a:rPr lang="zh-CN" altLang="en-US" b="1" dirty="0" smtClean="0">
                <a:latin typeface="黑体" panose="02010609060101010101" charset="-122"/>
                <a:ea typeface="黑体" panose="02010609060101010101" charset="-122"/>
              </a:rPr>
              <a:t>数据集</a:t>
            </a:r>
            <a:endParaRPr lang="zh-CN" altLang="en-US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42265" y="1595755"/>
            <a:ext cx="8101330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数据</a:t>
            </a:r>
            <a:r>
              <a:rPr lang="zh-CN" altLang="en-US" sz="2000" dirty="0" smtClean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集来源：</a:t>
            </a:r>
            <a:endParaRPr lang="en-US" altLang="zh-CN" sz="2000" dirty="0" smtClean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  <a:p>
            <a:r>
              <a:rPr lang="zh-CN" sz="2000" dirty="0" smtClean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欧洲各个国家的光伏出力、风电出力（time_series</a:t>
            </a:r>
            <a:r>
              <a:rPr lang="en-US" altLang="zh-CN" sz="2000" dirty="0" smtClean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)</a:t>
            </a:r>
            <a:endParaRPr lang="zh-CN" sz="2000" dirty="0" smtClean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  <a:sym typeface="+mn-ea"/>
            </a:endParaRPr>
          </a:p>
          <a:p>
            <a:r>
              <a:rPr lang="zh-CN" sz="2000" dirty="0" smtClean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气象信息（weather）</a:t>
            </a:r>
            <a:endParaRPr lang="zh-CN" sz="2000" dirty="0" smtClean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  <a:sym typeface="+mn-ea"/>
            </a:endParaRPr>
          </a:p>
          <a:p>
            <a:endParaRPr lang="zh-CN" altLang="en-US" sz="2000" dirty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  <a:p>
            <a:r>
              <a:rPr lang="zh-CN" altLang="en-US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每条数据（</a:t>
            </a:r>
            <a:r>
              <a:rPr lang="en-US" altLang="zh-CN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raw_data</a:t>
            </a:r>
            <a:r>
              <a:rPr lang="zh-CN" altLang="en-US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）包含的信息如下</a:t>
            </a:r>
            <a:endParaRPr lang="zh-CN" altLang="en-US" sz="2000" dirty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  <a:sym typeface="+mn-ea"/>
            </a:endParaRPr>
          </a:p>
          <a:p>
            <a:r>
              <a:rPr lang="zh-CN" altLang="en-US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时间：</a:t>
            </a:r>
            <a:r>
              <a:rPr lang="en-US" altLang="zh-CN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year_month_day_hour</a:t>
            </a:r>
            <a:r>
              <a:rPr lang="zh-CN" altLang="en-US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（</a:t>
            </a:r>
            <a:r>
              <a:rPr lang="zh-CN" altLang="en-US" sz="2000" b="1" u="sng" dirty="0">
                <a:latin typeface="黑体" panose="02010609060101010101" charset="-122"/>
                <a:ea typeface="黑体" panose="02010609060101010101" charset="-122"/>
                <a:cs typeface="新宋体" panose="02010609030101010101" charset="-122"/>
                <a:sym typeface="+mn-ea"/>
              </a:rPr>
              <a:t>注意是否考虑时差</a:t>
            </a:r>
            <a:r>
              <a:rPr lang="zh-CN" altLang="en-US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）</a:t>
            </a:r>
            <a:endParaRPr lang="zh-CN" altLang="en-US" sz="2000" dirty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  <a:sym typeface="+mn-ea"/>
            </a:endParaRPr>
          </a:p>
          <a:p>
            <a:r>
              <a:rPr lang="zh-CN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光伏</a:t>
            </a:r>
            <a:r>
              <a:rPr lang="en-US" altLang="zh-CN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or</a:t>
            </a:r>
            <a:r>
              <a:rPr lang="zh-CN" altLang="en-US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风电出力：</a:t>
            </a:r>
            <a:r>
              <a:rPr lang="en-US" altLang="zh-CN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(...)_power_actual</a:t>
            </a:r>
            <a:endParaRPr lang="zh-CN" altLang="en-US" sz="2000" dirty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  <a:sym typeface="+mn-ea"/>
            </a:endParaRPr>
          </a:p>
          <a:p>
            <a:r>
              <a:rPr lang="zh-CN" altLang="en-US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温度：</a:t>
            </a:r>
            <a:r>
              <a:rPr lang="en-US" altLang="zh-CN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temperature</a:t>
            </a:r>
            <a:endParaRPr lang="en-US" altLang="zh-CN" sz="2000" dirty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  <a:sym typeface="+mn-ea"/>
            </a:endParaRPr>
          </a:p>
          <a:p>
            <a:r>
              <a:rPr lang="zh-CN" altLang="en-US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直射辐射：radiation_direct_horizontal</a:t>
            </a:r>
            <a:endParaRPr lang="zh-CN" altLang="en-US" sz="2000" dirty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  <a:sym typeface="+mn-ea"/>
            </a:endParaRPr>
          </a:p>
          <a:p>
            <a:r>
              <a:rPr lang="zh-CN" altLang="en-US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漫射辐射：radiation_diffuse_horizontal</a:t>
            </a:r>
            <a:endParaRPr lang="zh-CN" altLang="en-US" sz="2000" dirty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  <a:sym typeface="+mn-ea"/>
            </a:endParaRPr>
          </a:p>
          <a:p>
            <a:endParaRPr lang="zh-CN" altLang="en-US" sz="2000" dirty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0"/>
            <a:ext cx="3148330" cy="810895"/>
            <a:chOff x="0" y="0"/>
            <a:chExt cx="4958" cy="1277"/>
          </a:xfrm>
        </p:grpSpPr>
        <p:sp>
          <p:nvSpPr>
            <p:cNvPr id="5" name="矩形 4"/>
            <p:cNvSpPr/>
            <p:nvPr/>
          </p:nvSpPr>
          <p:spPr>
            <a:xfrm>
              <a:off x="0" y="0"/>
              <a:ext cx="2292" cy="725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en-US" altLang="zh-CN" sz="2400" b="1">
                  <a:solidFill>
                    <a:srgbClr val="393A45"/>
                  </a:solidFill>
                  <a:latin typeface="+mj-ea"/>
                  <a:ea typeface="+mj-ea"/>
                  <a:sym typeface="+mn-lt"/>
                </a:rPr>
                <a:t>Task 1_1</a:t>
              </a:r>
              <a:endParaRPr lang="en-US" altLang="zh-CN" sz="2400" b="1">
                <a:solidFill>
                  <a:srgbClr val="393A45"/>
                </a:soli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6" name="Rectangle 120"/>
            <p:cNvSpPr/>
            <p:nvPr/>
          </p:nvSpPr>
          <p:spPr>
            <a:xfrm>
              <a:off x="0" y="794"/>
              <a:ext cx="4958" cy="483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defTabSz="609600">
                <a:defRPr/>
              </a:pPr>
              <a:r>
                <a:rPr kumimoji="1" lang="en-US" altLang="zh-CN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微软雅黑" panose="020B0503020204020204" pitchFamily="34" charset="-122"/>
                  <a:cs typeface="+mn-ea"/>
                  <a:sym typeface="Calibri" panose="020F0502020204030204" pitchFamily="34" charset="0"/>
                </a:rPr>
                <a:t>基于历史数据的日前新能源出力预测</a:t>
              </a:r>
              <a:endParaRPr kumimoji="1" lang="en-US" altLang="zh-CN" sz="1400" b="1" ker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微软雅黑" panose="020B0503020204020204" pitchFamily="34" charset="-122"/>
                <a:cs typeface="+mn-ea"/>
                <a:sym typeface="Calibri" panose="020F0502020204030204" pitchFamily="34" charset="0"/>
              </a:endParaRPr>
            </a:p>
          </p:txBody>
        </p:sp>
      </p:grp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3390265" y="909320"/>
            <a:ext cx="2363470" cy="334010"/>
          </a:xfrm>
        </p:spPr>
        <p:txBody>
          <a:bodyPr>
            <a:normAutofit fontScale="90000"/>
          </a:bodyPr>
          <a:p>
            <a:pPr algn="ctr"/>
            <a:r>
              <a:rPr lang="zh-CN" altLang="en-US" b="1" dirty="0" smtClean="0">
                <a:latin typeface="黑体" panose="02010609060101010101" charset="-122"/>
                <a:ea typeface="黑体" panose="02010609060101010101" charset="-122"/>
              </a:rPr>
              <a:t>数据预处理</a:t>
            </a:r>
            <a:endParaRPr lang="zh-CN" altLang="en-US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42265" y="1588135"/>
            <a:ext cx="8101330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①</a:t>
            </a:r>
            <a:r>
              <a:rPr lang="zh-CN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缺失值较少，直接用时序前后两个数取平均</a:t>
            </a:r>
            <a:endParaRPr lang="zh-CN" sz="2000" dirty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  <a:p>
            <a:endParaRPr lang="zh-CN" sz="2000" dirty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  <a:p>
            <a:r>
              <a:rPr lang="zh-CN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②分别提取小时、星期、月份、年份信息</a:t>
            </a:r>
            <a:endParaRPr lang="zh-CN" sz="2000" dirty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  <a:p>
            <a:endParaRPr lang="zh-CN" sz="2000" dirty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  <a:p>
            <a:r>
              <a:rPr lang="zh-CN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③生成虚拟日（</a:t>
            </a:r>
            <a:r>
              <a:rPr lang="en-US" altLang="zh-CN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Virtual_Day</a:t>
            </a:r>
            <a:r>
              <a:rPr lang="zh-CN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）</a:t>
            </a:r>
            <a:endParaRPr lang="zh-CN" sz="2000" dirty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  <a:p>
            <a:r>
              <a:rPr lang="zh-CN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周期性处理：三角函数数值抽样</a:t>
            </a:r>
            <a:endParaRPr lang="zh-CN" sz="2000" dirty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  <a:p>
            <a:r>
              <a:rPr lang="zh-CN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（</a:t>
            </a:r>
            <a:r>
              <a:rPr lang="zh-CN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VDay_sin</a:t>
            </a:r>
            <a:r>
              <a:rPr lang="en-US" altLang="zh-CN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/VDay_cos</a:t>
            </a:r>
            <a:r>
              <a:rPr lang="zh-CN" altLang="en-US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）</a:t>
            </a:r>
            <a:endParaRPr lang="zh-CN" altLang="en-US" sz="2000" dirty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  <a:sym typeface="+mn-ea"/>
            </a:endParaRPr>
          </a:p>
          <a:p>
            <a:r>
              <a:rPr lang="zh-CN" altLang="en-US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（hour_sin</a:t>
            </a:r>
            <a:r>
              <a:rPr lang="en-US" altLang="zh-CN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/hour_cos</a:t>
            </a:r>
            <a:r>
              <a:rPr lang="zh-CN" altLang="en-US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）</a:t>
            </a:r>
            <a:endParaRPr lang="zh-CN" altLang="en-US" sz="2000" dirty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  <a:sym typeface="+mn-ea"/>
            </a:endParaRPr>
          </a:p>
          <a:p>
            <a:r>
              <a:rPr lang="zh-CN" altLang="en-US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（month_sin</a:t>
            </a:r>
            <a:r>
              <a:rPr lang="en-US" altLang="zh-CN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/month_cos</a:t>
            </a:r>
            <a:r>
              <a:rPr lang="zh-CN" altLang="en-US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）</a:t>
            </a:r>
            <a:endParaRPr lang="zh-CN" altLang="en-US" sz="2000" dirty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  <a:sym typeface="+mn-ea"/>
            </a:endParaRPr>
          </a:p>
          <a:p>
            <a:r>
              <a:rPr lang="zh-CN" altLang="en-US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④归一化处理，划分训练集（一年）与测试集（未来</a:t>
            </a:r>
            <a:r>
              <a:rPr lang="en-US" altLang="zh-CN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24 * 30</a:t>
            </a:r>
            <a:r>
              <a:rPr lang="en-US" altLang="zh-CN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h</a:t>
            </a:r>
            <a:r>
              <a:rPr lang="zh-CN" altLang="en-US" sz="2000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）</a:t>
            </a:r>
            <a:endParaRPr lang="zh-CN" altLang="en-US" sz="2000" dirty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  <a:sym typeface="+mn-ea"/>
            </a:endParaRPr>
          </a:p>
          <a:p>
            <a:endParaRPr lang="en-US" altLang="zh-CN" sz="2000" dirty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  <a:p>
            <a:endParaRPr lang="zh-CN" sz="2000" dirty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  <a:p>
            <a:endParaRPr lang="en-US" altLang="zh-CN" sz="2000" dirty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0"/>
            <a:ext cx="3148330" cy="810895"/>
            <a:chOff x="0" y="0"/>
            <a:chExt cx="4958" cy="1277"/>
          </a:xfrm>
        </p:grpSpPr>
        <p:sp>
          <p:nvSpPr>
            <p:cNvPr id="5" name="矩形 4"/>
            <p:cNvSpPr/>
            <p:nvPr/>
          </p:nvSpPr>
          <p:spPr>
            <a:xfrm>
              <a:off x="0" y="0"/>
              <a:ext cx="4508" cy="725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en-US" altLang="zh-CN" sz="2400" b="1">
                  <a:solidFill>
                    <a:srgbClr val="393A45"/>
                  </a:solidFill>
                  <a:latin typeface="+mj-ea"/>
                  <a:ea typeface="+mj-ea"/>
                  <a:sym typeface="+mn-lt"/>
                </a:rPr>
                <a:t>Task 1_2 &amp; Task 3</a:t>
              </a:r>
              <a:endParaRPr lang="en-US" altLang="zh-CN" sz="2400" b="1">
                <a:solidFill>
                  <a:srgbClr val="393A45"/>
                </a:soli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6" name="Rectangle 120"/>
            <p:cNvSpPr/>
            <p:nvPr/>
          </p:nvSpPr>
          <p:spPr>
            <a:xfrm>
              <a:off x="0" y="794"/>
              <a:ext cx="4958" cy="483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defTabSz="609600">
                <a:defRPr/>
              </a:pPr>
              <a:r>
                <a:rPr kumimoji="1" lang="en-US" altLang="zh-CN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微软雅黑" panose="020B0503020204020204" pitchFamily="34" charset="-122"/>
                  <a:cs typeface="+mn-ea"/>
                  <a:sym typeface="Calibri" panose="020F0502020204030204" pitchFamily="34" charset="0"/>
                </a:rPr>
                <a:t>基于历史数据的日前新能源出力预测</a:t>
              </a:r>
              <a:endParaRPr kumimoji="1" lang="en-US" altLang="zh-CN" sz="1400" b="1" ker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微软雅黑" panose="020B0503020204020204" pitchFamily="34" charset="-122"/>
                <a:cs typeface="+mn-ea"/>
                <a:sym typeface="Calibri" panose="020F0502020204030204" pitchFamily="34" charset="0"/>
              </a:endParaRPr>
            </a:p>
          </p:txBody>
        </p:sp>
      </p:grp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2880995" y="854710"/>
            <a:ext cx="3382645" cy="334010"/>
          </a:xfrm>
        </p:spPr>
        <p:txBody>
          <a:bodyPr>
            <a:normAutofit fontScale="90000"/>
          </a:bodyPr>
          <a:p>
            <a:pPr algn="ctr"/>
            <a:r>
              <a:rPr lang="zh-CN" altLang="en-US" b="1" dirty="0" smtClean="0">
                <a:latin typeface="黑体" panose="02010609060101010101" charset="-122"/>
                <a:ea typeface="黑体" panose="02010609060101010101" charset="-122"/>
              </a:rPr>
              <a:t>模型构建：举例</a:t>
            </a:r>
            <a:endParaRPr lang="zh-CN" altLang="en-US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96545" y="1374775"/>
            <a:ext cx="81013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长短时记忆网络（</a:t>
            </a:r>
            <a:r>
              <a:rPr lang="en-US" altLang="zh-CN" sz="2000" b="1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LSTM</a:t>
            </a:r>
            <a:r>
              <a:rPr lang="zh-CN" altLang="en-US" sz="2000" b="1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）</a:t>
            </a:r>
            <a:endParaRPr lang="en-US" altLang="zh-CN" sz="2000" dirty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5702"/>
          <a:stretch>
            <a:fillRect/>
          </a:stretch>
        </p:blipFill>
        <p:spPr>
          <a:xfrm>
            <a:off x="3841115" y="2597150"/>
            <a:ext cx="5036820" cy="15017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190" y="2276475"/>
            <a:ext cx="3077845" cy="22948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0"/>
            <a:ext cx="3148330" cy="829945"/>
            <a:chOff x="0" y="0"/>
            <a:chExt cx="4958" cy="1307"/>
          </a:xfrm>
        </p:grpSpPr>
        <p:sp>
          <p:nvSpPr>
            <p:cNvPr id="5" name="矩形 4"/>
            <p:cNvSpPr/>
            <p:nvPr/>
          </p:nvSpPr>
          <p:spPr>
            <a:xfrm>
              <a:off x="0" y="0"/>
              <a:ext cx="4508" cy="1307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algn="l"/>
              <a:r>
                <a:rPr lang="en-US" altLang="zh-CN" sz="2400" b="1">
                  <a:solidFill>
                    <a:srgbClr val="393A45"/>
                  </a:solidFill>
                  <a:latin typeface="+mj-ea"/>
                  <a:ea typeface="+mj-ea"/>
                  <a:sym typeface="+mn-lt"/>
                </a:rPr>
                <a:t>Task 1_2 </a:t>
              </a:r>
              <a:r>
                <a:rPr lang="en-US" altLang="zh-CN" sz="2400" b="1">
                  <a:solidFill>
                    <a:srgbClr val="393A45"/>
                  </a:solidFill>
                  <a:latin typeface="+mj-ea"/>
                  <a:ea typeface="+mj-ea"/>
                  <a:sym typeface="+mn-lt"/>
                </a:rPr>
                <a:t>&amp; Task 3</a:t>
              </a:r>
              <a:endParaRPr lang="en-US" altLang="zh-CN" sz="2400" b="1">
                <a:solidFill>
                  <a:srgbClr val="393A45"/>
                </a:solidFill>
                <a:latin typeface="+mj-ea"/>
                <a:ea typeface="+mj-ea"/>
                <a:sym typeface="+mn-lt"/>
              </a:endParaRPr>
            </a:p>
            <a:p>
              <a:endParaRPr lang="en-US" altLang="zh-CN" sz="2400" b="1">
                <a:solidFill>
                  <a:srgbClr val="393A45"/>
                </a:soli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6" name="Rectangle 120"/>
            <p:cNvSpPr/>
            <p:nvPr/>
          </p:nvSpPr>
          <p:spPr>
            <a:xfrm>
              <a:off x="0" y="794"/>
              <a:ext cx="4958" cy="483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defTabSz="609600">
                <a:defRPr/>
              </a:pPr>
              <a:r>
                <a:rPr kumimoji="1" lang="en-US" altLang="zh-CN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微软雅黑" panose="020B0503020204020204" pitchFamily="34" charset="-122"/>
                  <a:cs typeface="+mn-ea"/>
                  <a:sym typeface="Calibri" panose="020F0502020204030204" pitchFamily="34" charset="0"/>
                </a:rPr>
                <a:t>基于历史数据的日前新能源出力预测</a:t>
              </a:r>
              <a:endParaRPr kumimoji="1" lang="en-US" altLang="zh-CN" sz="1400" b="1" ker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微软雅黑" panose="020B0503020204020204" pitchFamily="34" charset="-122"/>
                <a:cs typeface="+mn-ea"/>
                <a:sym typeface="Calibri" panose="020F0502020204030204" pitchFamily="34" charset="0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296545" y="1374775"/>
            <a:ext cx="81013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长短时记忆网络（</a:t>
            </a:r>
            <a:r>
              <a:rPr lang="en-US" altLang="zh-CN" sz="2000" b="1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LSTM</a:t>
            </a:r>
            <a:r>
              <a:rPr lang="zh-CN" altLang="en-US" sz="2000" b="1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）</a:t>
            </a:r>
            <a:endParaRPr lang="en-US" altLang="zh-CN" sz="2000" dirty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370965" y="2091055"/>
            <a:ext cx="5855970" cy="2071370"/>
            <a:chOff x="4519" y="4071"/>
            <a:chExt cx="9222" cy="3262"/>
          </a:xfrm>
        </p:grpSpPr>
        <p:sp>
          <p:nvSpPr>
            <p:cNvPr id="11" name="椭圆 10"/>
            <p:cNvSpPr/>
            <p:nvPr/>
          </p:nvSpPr>
          <p:spPr>
            <a:xfrm>
              <a:off x="4632" y="4071"/>
              <a:ext cx="567" cy="56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519" y="5747"/>
              <a:ext cx="1160" cy="9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eaVert" wrap="square" rtlCol="0">
              <a:spAutoFit/>
            </a:bodyPr>
            <a:p>
              <a:r>
                <a:rPr lang="en-US" altLang="zh-CN" sz="3600" b="1">
                  <a:solidFill>
                    <a:schemeClr val="tx1"/>
                  </a:solidFill>
                </a:rPr>
                <a:t>…</a:t>
              </a:r>
              <a:endParaRPr lang="en-US" altLang="zh-CN" sz="3600" b="1">
                <a:solidFill>
                  <a:schemeClr val="tx1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4631" y="4909"/>
              <a:ext cx="567" cy="56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4632" y="6766"/>
              <a:ext cx="567" cy="56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8900" y="4071"/>
              <a:ext cx="567" cy="56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8787" y="5721"/>
              <a:ext cx="1160" cy="9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eaVert" wrap="square" rtlCol="0">
              <a:spAutoFit/>
            </a:bodyPr>
            <a:p>
              <a:r>
                <a:rPr lang="en-US" altLang="zh-CN" sz="3600" b="1"/>
                <a:t>…</a:t>
              </a:r>
              <a:endParaRPr lang="en-US" altLang="zh-CN" sz="3600" b="1"/>
            </a:p>
          </p:txBody>
        </p:sp>
        <p:sp>
          <p:nvSpPr>
            <p:cNvPr id="17" name="椭圆 16"/>
            <p:cNvSpPr/>
            <p:nvPr/>
          </p:nvSpPr>
          <p:spPr>
            <a:xfrm>
              <a:off x="8900" y="4889"/>
              <a:ext cx="567" cy="56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8900" y="6740"/>
              <a:ext cx="567" cy="56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3174" y="4915"/>
              <a:ext cx="567" cy="567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3" name="直接箭头连接符 22"/>
            <p:cNvCxnSpPr/>
            <p:nvPr/>
          </p:nvCxnSpPr>
          <p:spPr>
            <a:xfrm flipV="1">
              <a:off x="5679" y="4348"/>
              <a:ext cx="2990" cy="13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24" name="直接箭头连接符 23"/>
            <p:cNvCxnSpPr/>
            <p:nvPr/>
          </p:nvCxnSpPr>
          <p:spPr>
            <a:xfrm flipV="1">
              <a:off x="5679" y="5166"/>
              <a:ext cx="2990" cy="13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25" name="直接箭头连接符 24"/>
            <p:cNvCxnSpPr/>
            <p:nvPr/>
          </p:nvCxnSpPr>
          <p:spPr>
            <a:xfrm flipV="1">
              <a:off x="5679" y="6953"/>
              <a:ext cx="2990" cy="13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 flipV="1">
              <a:off x="5714" y="4358"/>
              <a:ext cx="2877" cy="2608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27" name="直接箭头连接符 26"/>
            <p:cNvCxnSpPr/>
            <p:nvPr/>
          </p:nvCxnSpPr>
          <p:spPr>
            <a:xfrm flipV="1">
              <a:off x="5797" y="5265"/>
              <a:ext cx="2794" cy="1701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29" name="直接箭头连接符 28"/>
            <p:cNvCxnSpPr/>
            <p:nvPr/>
          </p:nvCxnSpPr>
          <p:spPr>
            <a:xfrm>
              <a:off x="9822" y="4317"/>
              <a:ext cx="2924" cy="809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31" name="直接箭头连接符 30"/>
            <p:cNvCxnSpPr/>
            <p:nvPr/>
          </p:nvCxnSpPr>
          <p:spPr>
            <a:xfrm flipV="1">
              <a:off x="9834" y="5140"/>
              <a:ext cx="2990" cy="13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34" name="直接箭头连接符 33"/>
            <p:cNvCxnSpPr/>
            <p:nvPr/>
          </p:nvCxnSpPr>
          <p:spPr>
            <a:xfrm flipV="1">
              <a:off x="9952" y="5239"/>
              <a:ext cx="2794" cy="1701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35" name="直接箭头连接符 34"/>
            <p:cNvCxnSpPr/>
            <p:nvPr/>
          </p:nvCxnSpPr>
          <p:spPr>
            <a:xfrm>
              <a:off x="5667" y="4367"/>
              <a:ext cx="2924" cy="809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36" name="直接箭头连接符 35"/>
            <p:cNvCxnSpPr/>
            <p:nvPr/>
          </p:nvCxnSpPr>
          <p:spPr>
            <a:xfrm>
              <a:off x="5652" y="5176"/>
              <a:ext cx="2794" cy="1700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37" name="直接箭头连接符 36"/>
            <p:cNvCxnSpPr/>
            <p:nvPr/>
          </p:nvCxnSpPr>
          <p:spPr>
            <a:xfrm flipV="1">
              <a:off x="5633" y="4358"/>
              <a:ext cx="2912" cy="807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</p:cxnSp>
        <p:cxnSp>
          <p:nvCxnSpPr>
            <p:cNvPr id="38" name="直接箭头连接符 37"/>
            <p:cNvCxnSpPr/>
            <p:nvPr/>
          </p:nvCxnSpPr>
          <p:spPr>
            <a:xfrm>
              <a:off x="5655" y="4384"/>
              <a:ext cx="3025" cy="2605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</p:cxnSp>
      </p:grpSp>
      <p:sp>
        <p:nvSpPr>
          <p:cNvPr id="42" name="文本框 41"/>
          <p:cNvSpPr txBox="1"/>
          <p:nvPr/>
        </p:nvSpPr>
        <p:spPr>
          <a:xfrm>
            <a:off x="1273175" y="4278527"/>
            <a:ext cx="69723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dirty="0"/>
              <a:t>输入层</a:t>
            </a:r>
            <a:endParaRPr lang="en-US" altLang="zh-CN" dirty="0"/>
          </a:p>
        </p:txBody>
      </p:sp>
      <p:sp>
        <p:nvSpPr>
          <p:cNvPr id="43" name="文本框 42"/>
          <p:cNvSpPr txBox="1"/>
          <p:nvPr/>
        </p:nvSpPr>
        <p:spPr>
          <a:xfrm>
            <a:off x="4041140" y="4290592"/>
            <a:ext cx="69723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隐藏层</a:t>
            </a:r>
            <a:endParaRPr lang="en-US" altLang="zh-CN"/>
          </a:p>
        </p:txBody>
      </p:sp>
      <p:sp>
        <p:nvSpPr>
          <p:cNvPr id="44" name="文本框 43"/>
          <p:cNvSpPr txBox="1"/>
          <p:nvPr/>
        </p:nvSpPr>
        <p:spPr>
          <a:xfrm>
            <a:off x="6505575" y="4278527"/>
            <a:ext cx="955675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输出层：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45" name="文本框 44"/>
          <p:cNvSpPr txBox="1"/>
          <p:nvPr/>
        </p:nvSpPr>
        <p:spPr>
          <a:xfrm>
            <a:off x="1802765" y="4589780"/>
            <a:ext cx="524510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800" b="1" dirty="0">
                <a:sym typeface="+mn-ea"/>
              </a:rPr>
              <a:t>超参数</a:t>
            </a:r>
            <a:r>
              <a:rPr lang="zh-CN" altLang="en-US" sz="1800" b="1" dirty="0" smtClean="0">
                <a:sym typeface="+mn-ea"/>
              </a:rPr>
              <a:t>：优化器</a:t>
            </a:r>
            <a:r>
              <a:rPr lang="en-US" altLang="zh-CN" sz="1800" b="1" dirty="0" smtClean="0">
                <a:sym typeface="+mn-ea"/>
              </a:rPr>
              <a:t>Adam</a:t>
            </a:r>
            <a:r>
              <a:rPr lang="zh-CN" altLang="en-US" sz="1800" b="1" dirty="0" smtClean="0">
                <a:sym typeface="+mn-ea"/>
              </a:rPr>
              <a:t>，学习率</a:t>
            </a:r>
            <a:r>
              <a:rPr lang="en-US" altLang="zh-CN" sz="1800" b="1" dirty="0" smtClean="0">
                <a:sym typeface="+mn-ea"/>
              </a:rPr>
              <a:t>0.001</a:t>
            </a:r>
            <a:r>
              <a:rPr lang="zh-CN" altLang="en-US" sz="1800" b="1" dirty="0" smtClean="0">
                <a:sym typeface="+mn-ea"/>
              </a:rPr>
              <a:t>，</a:t>
            </a:r>
            <a:r>
              <a:rPr lang="en-US" altLang="zh-CN" sz="1800" b="1" dirty="0" smtClean="0">
                <a:sym typeface="+mn-ea"/>
              </a:rPr>
              <a:t>batch_size 72</a:t>
            </a:r>
            <a:endParaRPr lang="en-US" altLang="zh-CN" sz="1800" b="1" dirty="0" smtClean="0">
              <a:sym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3140075" y="716280"/>
            <a:ext cx="2863215" cy="5530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3000" b="1" dirty="0" smtClean="0">
                <a:latin typeface="黑体" panose="02010609060101010101" charset="-122"/>
                <a:ea typeface="黑体" panose="02010609060101010101" charset="-122"/>
                <a:sym typeface="+mn-ea"/>
              </a:rPr>
              <a:t>模型构建：举例</a:t>
            </a:r>
            <a:endParaRPr lang="zh-CN" altLang="en-US" sz="3000" b="1" dirty="0" smtClean="0"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0"/>
            <a:ext cx="3148330" cy="829945"/>
            <a:chOff x="0" y="0"/>
            <a:chExt cx="4958" cy="1307"/>
          </a:xfrm>
        </p:grpSpPr>
        <p:sp>
          <p:nvSpPr>
            <p:cNvPr id="5" name="矩形 4"/>
            <p:cNvSpPr/>
            <p:nvPr/>
          </p:nvSpPr>
          <p:spPr>
            <a:xfrm>
              <a:off x="0" y="0"/>
              <a:ext cx="4508" cy="1307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algn="l"/>
              <a:r>
                <a:rPr lang="en-US" altLang="zh-CN" sz="2400" b="1">
                  <a:solidFill>
                    <a:srgbClr val="393A45"/>
                  </a:solidFill>
                  <a:latin typeface="+mj-ea"/>
                  <a:ea typeface="+mj-ea"/>
                  <a:sym typeface="+mn-lt"/>
                </a:rPr>
                <a:t>Task 1_2 </a:t>
              </a:r>
              <a:r>
                <a:rPr lang="en-US" altLang="zh-CN" sz="2400" b="1">
                  <a:solidFill>
                    <a:srgbClr val="393A45"/>
                  </a:solidFill>
                  <a:latin typeface="+mj-ea"/>
                  <a:ea typeface="+mj-ea"/>
                  <a:sym typeface="+mn-lt"/>
                </a:rPr>
                <a:t>&amp; Task 3</a:t>
              </a:r>
              <a:endParaRPr lang="en-US" altLang="zh-CN" sz="2400" b="1">
                <a:solidFill>
                  <a:srgbClr val="393A45"/>
                </a:solidFill>
                <a:latin typeface="+mj-ea"/>
                <a:ea typeface="+mj-ea"/>
                <a:sym typeface="+mn-lt"/>
              </a:endParaRPr>
            </a:p>
            <a:p>
              <a:endParaRPr lang="en-US" altLang="zh-CN" sz="2400" b="1">
                <a:solidFill>
                  <a:srgbClr val="393A45"/>
                </a:soli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6" name="Rectangle 120"/>
            <p:cNvSpPr/>
            <p:nvPr/>
          </p:nvSpPr>
          <p:spPr>
            <a:xfrm>
              <a:off x="0" y="794"/>
              <a:ext cx="4958" cy="483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defTabSz="609600">
                <a:defRPr/>
              </a:pPr>
              <a:r>
                <a:rPr kumimoji="1" lang="en-US" altLang="zh-CN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微软雅黑" panose="020B0503020204020204" pitchFamily="34" charset="-122"/>
                  <a:cs typeface="+mn-ea"/>
                  <a:sym typeface="Calibri" panose="020F0502020204030204" pitchFamily="34" charset="0"/>
                </a:rPr>
                <a:t>基于历史数据的日前新能源出力预测</a:t>
              </a:r>
              <a:endParaRPr kumimoji="1" lang="en-US" altLang="zh-CN" sz="1400" b="1" ker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微软雅黑" panose="020B0503020204020204" pitchFamily="34" charset="-122"/>
                <a:cs typeface="+mn-ea"/>
                <a:sym typeface="Calibri" panose="020F0502020204030204" pitchFamily="34" charset="0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296545" y="1360170"/>
            <a:ext cx="810133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以支持向量机（</a:t>
            </a:r>
            <a:r>
              <a:rPr lang="en-US" altLang="zh-CN" sz="2000" b="1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SVM</a:t>
            </a:r>
            <a:r>
              <a:rPr lang="zh-CN" altLang="en-US" sz="2000" b="1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）为例</a:t>
            </a:r>
            <a:endParaRPr lang="zh-CN" altLang="en-US" sz="2000" b="1" dirty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  <a:p>
            <a:endParaRPr lang="zh-CN" altLang="en-US" sz="2000" b="1" dirty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  <a:p>
            <a:r>
              <a:rPr lang="en-US" altLang="zh-CN" sz="2000" b="1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SVR</a:t>
            </a:r>
            <a:r>
              <a:rPr lang="zh-CN" altLang="en-US" sz="2000" b="1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（非线性回归）</a:t>
            </a:r>
            <a:endParaRPr lang="zh-CN" altLang="en-US" sz="2000" b="1" dirty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  <a:p>
            <a:r>
              <a:rPr lang="zh-CN" altLang="en-US" sz="2000" b="1" dirty="0">
                <a:ea typeface="新宋体" panose="02010609030101010101" charset="-122"/>
                <a:cs typeface="+mn-lt"/>
              </a:rPr>
              <a:t>选择核函数</a:t>
            </a:r>
            <a:r>
              <a:rPr lang="en-US" altLang="zh-CN" sz="2000" b="1" dirty="0">
                <a:ea typeface="新宋体" panose="02010609030101010101" charset="-122"/>
                <a:cs typeface="+mn-lt"/>
              </a:rPr>
              <a:t>kernel</a:t>
            </a:r>
            <a:r>
              <a:rPr lang="zh-CN" altLang="en-US" sz="2000" b="1" dirty="0">
                <a:ea typeface="新宋体" panose="02010609030101010101" charset="-122"/>
                <a:cs typeface="+mn-lt"/>
              </a:rPr>
              <a:t>：</a:t>
            </a:r>
            <a:r>
              <a:rPr lang="en-US" altLang="zh-CN" sz="2000" b="1" dirty="0">
                <a:ea typeface="新宋体" panose="02010609030101010101" charset="-122"/>
                <a:cs typeface="+mn-lt"/>
              </a:rPr>
              <a:t>‘rbf’</a:t>
            </a:r>
            <a:r>
              <a:rPr lang="zh-CN" altLang="en-US" sz="2000" b="1" dirty="0">
                <a:ea typeface="新宋体" panose="02010609030101010101" charset="-122"/>
                <a:cs typeface="+mn-lt"/>
              </a:rPr>
              <a:t>（</a:t>
            </a:r>
            <a:r>
              <a:rPr lang="en-US" altLang="zh-CN" sz="2000" b="1" dirty="0">
                <a:ea typeface="新宋体" panose="02010609030101010101" charset="-122"/>
                <a:cs typeface="+mn-lt"/>
              </a:rPr>
              <a:t>径向基函数</a:t>
            </a:r>
            <a:r>
              <a:rPr lang="zh-CN" altLang="en-US" sz="2000" b="1" dirty="0">
                <a:ea typeface="新宋体" panose="02010609030101010101" charset="-122"/>
                <a:cs typeface="+mn-lt"/>
              </a:rPr>
              <a:t>）</a:t>
            </a:r>
            <a:endParaRPr lang="en-US" altLang="zh-CN" sz="2000" b="1" dirty="0">
              <a:ea typeface="新宋体" panose="02010609030101010101" charset="-122"/>
              <a:cs typeface="+mn-lt"/>
            </a:endParaRPr>
          </a:p>
          <a:p>
            <a:endParaRPr lang="en-US" altLang="zh-CN" sz="2000" b="1" dirty="0">
              <a:latin typeface="新宋体" panose="02010609030101010101" charset="-122"/>
              <a:ea typeface="新宋体" panose="02010609030101010101" charset="-122"/>
              <a:cs typeface="+mn-lt"/>
            </a:endParaRPr>
          </a:p>
          <a:p>
            <a:r>
              <a:rPr lang="en-US" altLang="zh-CN" sz="2000" b="1" dirty="0">
                <a:latin typeface="新宋体" panose="02010609030101010101" charset="-122"/>
                <a:ea typeface="新宋体" panose="02010609030101010101" charset="-122"/>
                <a:cs typeface="+mn-lt"/>
              </a:rPr>
              <a:t>用</a:t>
            </a:r>
            <a:r>
              <a:rPr lang="en-US" altLang="zh-CN" sz="2000" b="1" dirty="0">
                <a:ea typeface="新宋体" panose="02010609030101010101" charset="-122"/>
                <a:cs typeface="+mn-lt"/>
              </a:rPr>
              <a:t>gridSearchCV</a:t>
            </a:r>
            <a:r>
              <a:rPr lang="zh-CN" altLang="en-US" sz="2000" b="1" dirty="0">
                <a:ea typeface="新宋体" panose="02010609030101010101" charset="-122"/>
                <a:cs typeface="+mn-lt"/>
              </a:rPr>
              <a:t>对</a:t>
            </a:r>
            <a:r>
              <a:rPr lang="en-US" altLang="zh-CN" sz="2000" b="1" dirty="0">
                <a:ea typeface="新宋体" panose="02010609030101010101" charset="-122"/>
                <a:cs typeface="+mn-lt"/>
              </a:rPr>
              <a:t>’gamma’</a:t>
            </a:r>
            <a:r>
              <a:rPr lang="zh-CN" altLang="en-US" sz="2000" b="1" dirty="0">
                <a:ea typeface="新宋体" panose="02010609030101010101" charset="-122"/>
                <a:cs typeface="+mn-lt"/>
              </a:rPr>
              <a:t>、</a:t>
            </a:r>
            <a:r>
              <a:rPr lang="en-US" altLang="zh-CN" sz="2000" b="1" dirty="0">
                <a:ea typeface="新宋体" panose="02010609030101010101" charset="-122"/>
                <a:cs typeface="+mn-lt"/>
              </a:rPr>
              <a:t>’C’</a:t>
            </a:r>
            <a:r>
              <a:rPr lang="zh-CN" altLang="en-US" sz="2000" b="1" dirty="0">
                <a:ea typeface="新宋体" panose="02010609030101010101" charset="-122"/>
                <a:cs typeface="+mn-lt"/>
              </a:rPr>
              <a:t>参数进行网格搜索</a:t>
            </a:r>
            <a:endParaRPr lang="zh-CN" altLang="en-US" sz="2000" b="1" dirty="0">
              <a:ea typeface="新宋体" panose="02010609030101010101" charset="-122"/>
              <a:cs typeface="+mn-lt"/>
            </a:endParaRPr>
          </a:p>
          <a:p>
            <a:endParaRPr lang="zh-CN" altLang="en-US" sz="2000" b="1" dirty="0">
              <a:ea typeface="新宋体" panose="02010609030101010101" charset="-122"/>
              <a:cs typeface="+mn-lt"/>
            </a:endParaRPr>
          </a:p>
          <a:p>
            <a:r>
              <a:rPr lang="zh-CN" altLang="en-US" sz="2000" b="1" dirty="0">
                <a:ea typeface="新宋体" panose="02010609030101010101" charset="-122"/>
                <a:cs typeface="+mn-lt"/>
              </a:rPr>
              <a:t>利用训练集给出最佳参数{'C': 25, 'gamma': 0.01}</a:t>
            </a:r>
            <a:endParaRPr lang="zh-CN" altLang="en-US" sz="2000" b="1" dirty="0">
              <a:ea typeface="新宋体" panose="02010609030101010101" charset="-122"/>
              <a:cs typeface="+mn-lt"/>
            </a:endParaRPr>
          </a:p>
          <a:p>
            <a:endParaRPr lang="zh-CN" altLang="en-US" sz="2000" b="1" dirty="0">
              <a:ea typeface="新宋体" panose="02010609030101010101" charset="-122"/>
              <a:cs typeface="+mn-lt"/>
            </a:endParaRPr>
          </a:p>
          <a:p>
            <a:r>
              <a:rPr lang="zh-CN" altLang="en-US" sz="2000" b="1" dirty="0">
                <a:ea typeface="新宋体" panose="02010609030101010101" charset="-122"/>
                <a:cs typeface="+mn-lt"/>
              </a:rPr>
              <a:t>将参数代入模型进行预测</a:t>
            </a:r>
            <a:endParaRPr lang="zh-CN" altLang="en-US" sz="2000" b="1" dirty="0">
              <a:ea typeface="新宋体" panose="02010609030101010101" charset="-122"/>
              <a:cs typeface="+mn-lt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3140075" y="708660"/>
            <a:ext cx="2863215" cy="5530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3000" b="1" dirty="0" smtClean="0">
                <a:latin typeface="黑体" panose="02010609060101010101" charset="-122"/>
                <a:ea typeface="黑体" panose="02010609060101010101" charset="-122"/>
                <a:sym typeface="+mn-ea"/>
              </a:rPr>
              <a:t>模型构建：举例</a:t>
            </a:r>
            <a:endParaRPr lang="zh-CN" altLang="en-US" sz="3000" b="1" dirty="0" smtClean="0"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0"/>
            <a:ext cx="3148330" cy="829945"/>
            <a:chOff x="0" y="0"/>
            <a:chExt cx="4958" cy="1307"/>
          </a:xfrm>
        </p:grpSpPr>
        <p:sp>
          <p:nvSpPr>
            <p:cNvPr id="5" name="矩形 4"/>
            <p:cNvSpPr/>
            <p:nvPr/>
          </p:nvSpPr>
          <p:spPr>
            <a:xfrm>
              <a:off x="0" y="0"/>
              <a:ext cx="2435" cy="1307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algn="l"/>
              <a:r>
                <a:rPr lang="en-US" altLang="zh-CN" sz="2400" b="1">
                  <a:solidFill>
                    <a:srgbClr val="393A45"/>
                  </a:solidFill>
                  <a:latin typeface="+mj-ea"/>
                  <a:ea typeface="+mj-ea"/>
                  <a:sym typeface="+mn-lt"/>
                </a:rPr>
                <a:t>Task 1_3 </a:t>
              </a:r>
              <a:endParaRPr lang="en-US" altLang="zh-CN" sz="2400" b="1">
                <a:solidFill>
                  <a:srgbClr val="393A45"/>
                </a:solidFill>
                <a:latin typeface="+mj-ea"/>
                <a:ea typeface="+mj-ea"/>
                <a:sym typeface="+mn-lt"/>
              </a:endParaRPr>
            </a:p>
            <a:p>
              <a:endParaRPr lang="en-US" altLang="zh-CN" sz="2400" b="1">
                <a:solidFill>
                  <a:srgbClr val="393A45"/>
                </a:soli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6" name="Rectangle 120"/>
            <p:cNvSpPr/>
            <p:nvPr/>
          </p:nvSpPr>
          <p:spPr>
            <a:xfrm>
              <a:off x="0" y="794"/>
              <a:ext cx="4958" cy="483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defTabSz="609600">
                <a:defRPr/>
              </a:pPr>
              <a:r>
                <a:rPr kumimoji="1" lang="en-US" altLang="zh-CN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微软雅黑" panose="020B0503020204020204" pitchFamily="34" charset="-122"/>
                  <a:cs typeface="+mn-ea"/>
                  <a:sym typeface="Calibri" panose="020F0502020204030204" pitchFamily="34" charset="0"/>
                </a:rPr>
                <a:t>基于历史数据的日前新能源出力预测</a:t>
              </a:r>
              <a:endParaRPr kumimoji="1" lang="en-US" altLang="zh-CN" sz="1400" b="1" ker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微软雅黑" panose="020B0503020204020204" pitchFamily="34" charset="-122"/>
                <a:cs typeface="+mn-ea"/>
                <a:sym typeface="Calibri" panose="020F0502020204030204" pitchFamily="34" charset="0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35585" y="2974340"/>
            <a:ext cx="362013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800" b="1" dirty="0" smtClean="0">
                <a:sym typeface="+mn-ea"/>
              </a:rPr>
              <a:t>SVM</a:t>
            </a:r>
            <a:r>
              <a:rPr lang="zh-CN" altLang="en-US" sz="1800" b="1" dirty="0" smtClean="0">
                <a:sym typeface="+mn-ea"/>
              </a:rPr>
              <a:t>（支持向量机）</a:t>
            </a:r>
            <a:endParaRPr lang="zh-CN" altLang="en-US" sz="1800" b="1" dirty="0" smtClean="0">
              <a:sym typeface="+mn-ea"/>
            </a:endParaRPr>
          </a:p>
          <a:p>
            <a:r>
              <a:rPr lang="en-US" altLang="zh-CN" sz="1800" b="1" dirty="0" smtClean="0">
                <a:sym typeface="+mn-ea"/>
              </a:rPr>
              <a:t>GBDT</a:t>
            </a:r>
            <a:r>
              <a:rPr lang="zh-CN" altLang="en-US" sz="1800" b="1" dirty="0" smtClean="0">
                <a:sym typeface="+mn-ea"/>
              </a:rPr>
              <a:t>（梯度提升决策树）</a:t>
            </a:r>
            <a:endParaRPr lang="zh-CN" altLang="en-US" sz="1800" b="1" dirty="0" smtClean="0">
              <a:sym typeface="+mn-ea"/>
            </a:endParaRPr>
          </a:p>
          <a:p>
            <a:r>
              <a:rPr lang="en-US" altLang="zh-CN" sz="1800" b="1" dirty="0" smtClean="0">
                <a:sym typeface="+mn-ea"/>
              </a:rPr>
              <a:t>RF</a:t>
            </a:r>
            <a:r>
              <a:rPr lang="zh-CN" altLang="en-US" sz="1800" b="1" dirty="0" smtClean="0">
                <a:sym typeface="+mn-ea"/>
              </a:rPr>
              <a:t>（随机森林）</a:t>
            </a:r>
            <a:endParaRPr lang="zh-CN" altLang="en-US" sz="1800" b="1" dirty="0" smtClean="0">
              <a:sym typeface="+mn-ea"/>
            </a:endParaRPr>
          </a:p>
          <a:p>
            <a:r>
              <a:rPr lang="en-US" altLang="zh-CN" sz="1800" b="1" dirty="0" smtClean="0">
                <a:sym typeface="+mn-ea"/>
              </a:rPr>
              <a:t>LSTM</a:t>
            </a:r>
            <a:r>
              <a:rPr lang="zh-CN" altLang="en-US" sz="1800" b="1" dirty="0" smtClean="0">
                <a:sym typeface="+mn-ea"/>
              </a:rPr>
              <a:t>（长短时记忆网络）</a:t>
            </a:r>
            <a:endParaRPr lang="zh-CN" altLang="en-US" sz="1800" b="1" dirty="0" smtClean="0">
              <a:sym typeface="+mn-ea"/>
            </a:endParaRPr>
          </a:p>
          <a:p>
            <a:r>
              <a:rPr lang="en-US" altLang="zh-CN" sz="1800" b="1" dirty="0" smtClean="0">
                <a:sym typeface="+mn-ea"/>
              </a:rPr>
              <a:t>MLP</a:t>
            </a:r>
            <a:r>
              <a:rPr lang="zh-CN" altLang="en-US" sz="1800" b="1" dirty="0" smtClean="0">
                <a:sym typeface="+mn-ea"/>
              </a:rPr>
              <a:t>（多层感知器）</a:t>
            </a:r>
            <a:endParaRPr lang="en-US" altLang="zh-CN" sz="1800" b="1" dirty="0" smtClean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40075" y="708660"/>
            <a:ext cx="3246120" cy="5530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3000" b="1" dirty="0" smtClean="0">
                <a:latin typeface="黑体" panose="02010609060101010101" charset="-122"/>
                <a:ea typeface="黑体" panose="02010609060101010101" charset="-122"/>
                <a:sym typeface="+mn-ea"/>
              </a:rPr>
              <a:t>实验结果（部分）</a:t>
            </a:r>
            <a:endParaRPr lang="en-US" altLang="zh-CN" sz="3000" b="1" dirty="0" smtClean="0"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35585" y="1734820"/>
            <a:ext cx="302006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奥地利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2017.1.7</a:t>
            </a:r>
            <a:endParaRPr lang="en-US" altLang="zh-CN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AT_solar_generation_actual</a:t>
            </a:r>
            <a:endParaRPr lang="en-US" altLang="zh-CN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精度衡量指标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RMSE</a:t>
            </a:r>
            <a:endParaRPr lang="en-US" altLang="zh-CN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7425" y="1582420"/>
            <a:ext cx="4994275" cy="3263900"/>
          </a:xfrm>
          <a:prstGeom prst="rect">
            <a:avLst/>
          </a:prstGeom>
        </p:spPr>
      </p:pic>
      <p:graphicFrame>
        <p:nvGraphicFramePr>
          <p:cNvPr id="9" name="表格 8"/>
          <p:cNvGraphicFramePr/>
          <p:nvPr>
            <p:custDataLst>
              <p:tags r:id="rId2"/>
            </p:custDataLst>
          </p:nvPr>
        </p:nvGraphicFramePr>
        <p:xfrm>
          <a:off x="6617018" y="2646680"/>
          <a:ext cx="1393825" cy="759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575"/>
                <a:gridCol w="730250"/>
              </a:tblGrid>
              <a:tr h="2260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SVM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7.067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GBDT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6.85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LSTM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23.11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MLP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8.96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0"/>
            <a:ext cx="3148330" cy="829945"/>
            <a:chOff x="0" y="0"/>
            <a:chExt cx="4958" cy="1307"/>
          </a:xfrm>
        </p:grpSpPr>
        <p:sp>
          <p:nvSpPr>
            <p:cNvPr id="5" name="矩形 4"/>
            <p:cNvSpPr/>
            <p:nvPr/>
          </p:nvSpPr>
          <p:spPr>
            <a:xfrm>
              <a:off x="0" y="0"/>
              <a:ext cx="2435" cy="1307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algn="l"/>
              <a:r>
                <a:rPr lang="en-US" altLang="zh-CN" sz="2400" b="1">
                  <a:solidFill>
                    <a:srgbClr val="393A45"/>
                  </a:solidFill>
                  <a:latin typeface="+mj-ea"/>
                  <a:ea typeface="+mj-ea"/>
                  <a:sym typeface="+mn-lt"/>
                </a:rPr>
                <a:t>Task 1_3 </a:t>
              </a:r>
              <a:endParaRPr lang="en-US" altLang="zh-CN" sz="2400" b="1">
                <a:solidFill>
                  <a:srgbClr val="393A45"/>
                </a:solidFill>
                <a:latin typeface="+mj-ea"/>
                <a:ea typeface="+mj-ea"/>
                <a:sym typeface="+mn-lt"/>
              </a:endParaRPr>
            </a:p>
            <a:p>
              <a:endParaRPr lang="en-US" altLang="zh-CN" sz="2400" b="1">
                <a:solidFill>
                  <a:srgbClr val="393A45"/>
                </a:soli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6" name="Rectangle 120"/>
            <p:cNvSpPr/>
            <p:nvPr/>
          </p:nvSpPr>
          <p:spPr>
            <a:xfrm>
              <a:off x="0" y="794"/>
              <a:ext cx="4958" cy="483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defTabSz="609600">
                <a:defRPr/>
              </a:pPr>
              <a:r>
                <a:rPr kumimoji="1" lang="en-US" altLang="zh-CN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微软雅黑" panose="020B0503020204020204" pitchFamily="34" charset="-122"/>
                  <a:cs typeface="+mn-ea"/>
                  <a:sym typeface="Calibri" panose="020F0502020204030204" pitchFamily="34" charset="0"/>
                </a:rPr>
                <a:t>基于历史数据的日前新能源出力预测</a:t>
              </a:r>
              <a:endParaRPr kumimoji="1" lang="en-US" altLang="zh-CN" sz="1400" b="1" ker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微软雅黑" panose="020B0503020204020204" pitchFamily="34" charset="-122"/>
                <a:cs typeface="+mn-ea"/>
                <a:sym typeface="Calibri" panose="020F0502020204030204" pitchFamily="34" charset="0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140075" y="708660"/>
            <a:ext cx="3246120" cy="5530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3000" b="1" dirty="0" smtClean="0">
                <a:latin typeface="黑体" panose="02010609060101010101" charset="-122"/>
                <a:ea typeface="黑体" panose="02010609060101010101" charset="-122"/>
                <a:sym typeface="+mn-ea"/>
              </a:rPr>
              <a:t>实验结果（部分）</a:t>
            </a:r>
            <a:endParaRPr lang="en-US" altLang="zh-CN" sz="3000" b="1" dirty="0" smtClean="0"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0640" y="1707515"/>
            <a:ext cx="287147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奥地利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2017.1.7 - 2017.1.13</a:t>
            </a:r>
            <a:endParaRPr lang="en-US" altLang="zh-CN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AT_solar_generation_actual</a:t>
            </a:r>
            <a:endParaRPr lang="en-US" altLang="zh-CN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精度衡量指标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RMSE</a:t>
            </a:r>
            <a:endParaRPr lang="en-US" altLang="zh-CN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835910" y="1750695"/>
            <a:ext cx="6194425" cy="2575560"/>
          </a:xfrm>
          <a:prstGeom prst="rect">
            <a:avLst/>
          </a:prstGeom>
        </p:spPr>
      </p:pic>
      <p:graphicFrame>
        <p:nvGraphicFramePr>
          <p:cNvPr id="9" name="表格 8"/>
          <p:cNvGraphicFramePr/>
          <p:nvPr>
            <p:custDataLst>
              <p:tags r:id="rId3"/>
            </p:custDataLst>
          </p:nvPr>
        </p:nvGraphicFramePr>
        <p:xfrm>
          <a:off x="6997383" y="1916430"/>
          <a:ext cx="1393825" cy="759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575"/>
                <a:gridCol w="730250"/>
              </a:tblGrid>
              <a:tr h="2260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SVM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8.493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GBDT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6.36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LSTM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28.09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MLP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6.53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0"/>
            <a:ext cx="3148330" cy="829945"/>
            <a:chOff x="0" y="0"/>
            <a:chExt cx="4958" cy="1307"/>
          </a:xfrm>
        </p:grpSpPr>
        <p:sp>
          <p:nvSpPr>
            <p:cNvPr id="5" name="矩形 4"/>
            <p:cNvSpPr/>
            <p:nvPr/>
          </p:nvSpPr>
          <p:spPr>
            <a:xfrm>
              <a:off x="0" y="0"/>
              <a:ext cx="2435" cy="1307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algn="l"/>
              <a:r>
                <a:rPr lang="en-US" altLang="zh-CN" sz="2400" b="1">
                  <a:solidFill>
                    <a:srgbClr val="393A45"/>
                  </a:solidFill>
                  <a:latin typeface="+mj-ea"/>
                  <a:ea typeface="+mj-ea"/>
                  <a:sym typeface="+mn-lt"/>
                </a:rPr>
                <a:t>Task 1_3 </a:t>
              </a:r>
              <a:endParaRPr lang="en-US" altLang="zh-CN" sz="2400" b="1">
                <a:solidFill>
                  <a:srgbClr val="393A45"/>
                </a:solidFill>
                <a:latin typeface="+mj-ea"/>
                <a:ea typeface="+mj-ea"/>
                <a:sym typeface="+mn-lt"/>
              </a:endParaRPr>
            </a:p>
            <a:p>
              <a:endParaRPr lang="en-US" altLang="zh-CN" sz="2400" b="1">
                <a:solidFill>
                  <a:srgbClr val="393A45"/>
                </a:soli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6" name="Rectangle 120"/>
            <p:cNvSpPr/>
            <p:nvPr/>
          </p:nvSpPr>
          <p:spPr>
            <a:xfrm>
              <a:off x="0" y="794"/>
              <a:ext cx="4958" cy="483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defTabSz="609600">
                <a:defRPr/>
              </a:pPr>
              <a:r>
                <a:rPr kumimoji="1" lang="en-US" altLang="zh-CN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微软雅黑" panose="020B0503020204020204" pitchFamily="34" charset="-122"/>
                  <a:cs typeface="+mn-ea"/>
                  <a:sym typeface="Calibri" panose="020F0502020204030204" pitchFamily="34" charset="0"/>
                </a:rPr>
                <a:t>基于历史数据的日前新能源出力预测</a:t>
              </a:r>
              <a:endParaRPr kumimoji="1" lang="en-US" altLang="zh-CN" sz="1400" b="1" ker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微软雅黑" panose="020B0503020204020204" pitchFamily="34" charset="-122"/>
                <a:cs typeface="+mn-ea"/>
                <a:sym typeface="Calibri" panose="020F0502020204030204" pitchFamily="34" charset="0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140075" y="708660"/>
            <a:ext cx="3246120" cy="5530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3000" b="1" dirty="0" smtClean="0">
                <a:latin typeface="黑体" panose="02010609060101010101" charset="-122"/>
                <a:ea typeface="黑体" panose="02010609060101010101" charset="-122"/>
                <a:sym typeface="+mn-ea"/>
              </a:rPr>
              <a:t>实验结果（部分）</a:t>
            </a:r>
            <a:endParaRPr lang="en-US" altLang="zh-CN" sz="3000" b="1" dirty="0" smtClean="0"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7355" y="1555115"/>
            <a:ext cx="6036310" cy="296926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35585" y="1741805"/>
            <a:ext cx="43014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奥地利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2017.1.1</a:t>
            </a:r>
            <a:endParaRPr lang="en-US" altLang="zh-CN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AT_wind_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onshore_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generation_actual</a:t>
            </a:r>
            <a:endParaRPr lang="en-US" altLang="zh-CN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73165" y="2007235"/>
            <a:ext cx="2508250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预测精度</a:t>
            </a:r>
            <a:r>
              <a:rPr lang="en-US" altLang="zh-CN" b="1"/>
              <a:t>MAPE</a:t>
            </a:r>
            <a:r>
              <a:rPr lang="zh-CN" altLang="en-US" b="1"/>
              <a:t>：</a:t>
            </a:r>
            <a:r>
              <a:rPr lang="en-US" altLang="zh-CN" b="1"/>
              <a:t>2.84%</a:t>
            </a:r>
            <a:endParaRPr lang="en-US" altLang="zh-CN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0"/>
            <a:ext cx="3148330" cy="829945"/>
            <a:chOff x="0" y="0"/>
            <a:chExt cx="4958" cy="1307"/>
          </a:xfrm>
        </p:grpSpPr>
        <p:sp>
          <p:nvSpPr>
            <p:cNvPr id="5" name="矩形 4"/>
            <p:cNvSpPr/>
            <p:nvPr/>
          </p:nvSpPr>
          <p:spPr>
            <a:xfrm>
              <a:off x="0" y="0"/>
              <a:ext cx="2435" cy="1307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algn="l"/>
              <a:r>
                <a:rPr lang="en-US" altLang="zh-CN" sz="2400" b="1">
                  <a:solidFill>
                    <a:srgbClr val="393A45"/>
                  </a:solidFill>
                  <a:latin typeface="+mj-ea"/>
                  <a:ea typeface="+mj-ea"/>
                  <a:sym typeface="+mn-lt"/>
                </a:rPr>
                <a:t>Task 1_3 </a:t>
              </a:r>
              <a:endParaRPr lang="en-US" altLang="zh-CN" sz="2400" b="1">
                <a:solidFill>
                  <a:srgbClr val="393A45"/>
                </a:solidFill>
                <a:latin typeface="+mj-ea"/>
                <a:ea typeface="+mj-ea"/>
                <a:sym typeface="+mn-lt"/>
              </a:endParaRPr>
            </a:p>
            <a:p>
              <a:endParaRPr lang="en-US" altLang="zh-CN" sz="2400" b="1">
                <a:solidFill>
                  <a:srgbClr val="393A45"/>
                </a:soli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6" name="Rectangle 120"/>
            <p:cNvSpPr/>
            <p:nvPr/>
          </p:nvSpPr>
          <p:spPr>
            <a:xfrm>
              <a:off x="0" y="794"/>
              <a:ext cx="4958" cy="483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defTabSz="609600">
                <a:defRPr/>
              </a:pPr>
              <a:r>
                <a:rPr kumimoji="1" lang="en-US" altLang="zh-CN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微软雅黑" panose="020B0503020204020204" pitchFamily="34" charset="-122"/>
                  <a:cs typeface="+mn-ea"/>
                  <a:sym typeface="Calibri" panose="020F0502020204030204" pitchFamily="34" charset="0"/>
                </a:rPr>
                <a:t>基于历史数据的日前新能源出力预测</a:t>
              </a:r>
              <a:endParaRPr kumimoji="1" lang="en-US" altLang="zh-CN" sz="1400" b="1" ker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微软雅黑" panose="020B0503020204020204" pitchFamily="34" charset="-122"/>
                <a:cs typeface="+mn-ea"/>
                <a:sym typeface="Calibri" panose="020F0502020204030204" pitchFamily="34" charset="0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140075" y="708660"/>
            <a:ext cx="3246120" cy="5530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3000" b="1" dirty="0" smtClean="0">
                <a:latin typeface="黑体" panose="02010609060101010101" charset="-122"/>
                <a:ea typeface="黑体" panose="02010609060101010101" charset="-122"/>
                <a:sym typeface="+mn-ea"/>
              </a:rPr>
              <a:t>实验结果（部分）</a:t>
            </a:r>
            <a:endParaRPr lang="en-US" altLang="zh-CN" sz="3000" b="1" dirty="0" smtClean="0"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8330" y="1741805"/>
            <a:ext cx="5923915" cy="28854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35585" y="1741805"/>
            <a:ext cx="36201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奥地利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2017.1.1 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- 2017.1.7</a:t>
            </a:r>
            <a:endParaRPr lang="en-US" altLang="zh-CN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AT_wind_onshore_generation_actual</a:t>
            </a:r>
            <a:endParaRPr lang="en-US" altLang="zh-CN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86195" y="2272665"/>
            <a:ext cx="2508250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预测精度</a:t>
            </a:r>
            <a:r>
              <a:rPr lang="en-US" altLang="zh-CN" b="1"/>
              <a:t>MAPE</a:t>
            </a:r>
            <a:r>
              <a:rPr lang="zh-CN" altLang="en-US" b="1"/>
              <a:t>：</a:t>
            </a:r>
            <a:r>
              <a:rPr lang="en-US" altLang="zh-CN" b="1"/>
              <a:t>2.15%</a:t>
            </a:r>
            <a:endParaRPr lang="en-US" altLang="zh-CN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0"/>
            <a:ext cx="3345815" cy="810895"/>
            <a:chOff x="0" y="0"/>
            <a:chExt cx="5269" cy="1277"/>
          </a:xfrm>
        </p:grpSpPr>
        <p:sp>
          <p:nvSpPr>
            <p:cNvPr id="5" name="矩形 4"/>
            <p:cNvSpPr/>
            <p:nvPr/>
          </p:nvSpPr>
          <p:spPr>
            <a:xfrm>
              <a:off x="0" y="0"/>
              <a:ext cx="1781" cy="7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393A45"/>
                  </a:solidFill>
                  <a:latin typeface="+mj-ea"/>
                  <a:ea typeface="+mj-ea"/>
                  <a:sym typeface="+mn-lt"/>
                </a:rPr>
                <a:t>Task 2</a:t>
              </a:r>
              <a:endParaRPr lang="en-US" altLang="zh-CN" sz="2400" b="1">
                <a:solidFill>
                  <a:srgbClr val="393A45"/>
                </a:soli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6" name="Rectangle 120"/>
            <p:cNvSpPr/>
            <p:nvPr/>
          </p:nvSpPr>
          <p:spPr>
            <a:xfrm>
              <a:off x="0" y="794"/>
              <a:ext cx="5269" cy="4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defTabSz="609600">
                <a:defRPr/>
              </a:pPr>
              <a:r>
                <a:rPr kumimoji="1" lang="en-US" altLang="zh-CN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微软雅黑" panose="020B0503020204020204" pitchFamily="34" charset="-122"/>
                  <a:cs typeface="+mn-ea"/>
                  <a:sym typeface="Calibri" panose="020F0502020204030204" pitchFamily="34" charset="0"/>
                </a:rPr>
                <a:t>不同国家的新能源出力分析</a:t>
              </a:r>
              <a:endParaRPr kumimoji="1" lang="en-US" altLang="zh-CN" sz="1400" b="1" ker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微软雅黑" panose="020B0503020204020204" pitchFamily="34" charset="-122"/>
                <a:cs typeface="+mn-ea"/>
                <a:sym typeface="Calibri" panose="020F0502020204030204" pitchFamily="34" charset="0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4729" y="1335703"/>
            <a:ext cx="5717445" cy="292199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19735" y="1976755"/>
            <a:ext cx="21570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+mj-lt"/>
                <a:ea typeface="+mj-lt"/>
                <a:cs typeface="+mj-lt"/>
              </a:rPr>
              <a:t>内陆：</a:t>
            </a:r>
            <a:r>
              <a:rPr lang="en-US" altLang="zh-CN" sz="1600" b="1" dirty="0">
                <a:latin typeface="+mj-lt"/>
                <a:ea typeface="+mj-lt"/>
                <a:cs typeface="+mj-lt"/>
              </a:rPr>
              <a:t>AT——</a:t>
            </a:r>
            <a:r>
              <a:rPr lang="zh-CN" altLang="en-US" sz="1600" b="1" dirty="0">
                <a:latin typeface="+mj-lt"/>
                <a:ea typeface="+mj-lt"/>
                <a:cs typeface="+mj-lt"/>
              </a:rPr>
              <a:t>奥地利</a:t>
            </a:r>
            <a:endParaRPr lang="en-US" altLang="zh-CN" sz="1600" b="1" dirty="0">
              <a:latin typeface="+mj-lt"/>
              <a:ea typeface="+mj-lt"/>
              <a:cs typeface="+mj-lt"/>
            </a:endParaRPr>
          </a:p>
          <a:p>
            <a:r>
              <a:rPr lang="zh-CN" altLang="en-US" sz="1600" b="1" dirty="0">
                <a:latin typeface="+mj-lt"/>
                <a:ea typeface="+mj-lt"/>
                <a:cs typeface="+mj-lt"/>
              </a:rPr>
              <a:t>沿海：</a:t>
            </a:r>
            <a:r>
              <a:rPr lang="en-US" altLang="zh-CN" sz="1600" b="1" dirty="0">
                <a:latin typeface="+mj-lt"/>
                <a:ea typeface="+mj-lt"/>
                <a:cs typeface="+mj-lt"/>
              </a:rPr>
              <a:t>BE——</a:t>
            </a:r>
            <a:r>
              <a:rPr lang="zh-CN" altLang="en-US" sz="1600" b="1" dirty="0">
                <a:latin typeface="+mj-lt"/>
                <a:ea typeface="+mj-lt"/>
                <a:cs typeface="+mj-lt"/>
              </a:rPr>
              <a:t>比利时</a:t>
            </a:r>
            <a:endParaRPr lang="en-US" altLang="zh-CN" sz="1600" b="1" dirty="0">
              <a:latin typeface="+mj-lt"/>
              <a:ea typeface="+mj-lt"/>
              <a:cs typeface="+mj-lt"/>
            </a:endParaRPr>
          </a:p>
          <a:p>
            <a:r>
              <a:rPr lang="en-US" altLang="zh-CN" sz="1600" b="1" dirty="0">
                <a:latin typeface="+mj-lt"/>
                <a:ea typeface="+mj-lt"/>
                <a:cs typeface="+mj-lt"/>
              </a:rPr>
              <a:t>            DK——</a:t>
            </a:r>
            <a:r>
              <a:rPr lang="zh-CN" altLang="en-US" sz="1600" b="1" dirty="0">
                <a:latin typeface="+mj-lt"/>
                <a:ea typeface="+mj-lt"/>
                <a:cs typeface="+mj-lt"/>
              </a:rPr>
              <a:t>丹麦</a:t>
            </a:r>
            <a:endParaRPr lang="zh-CN" altLang="en-US" sz="1600" b="1" dirty="0">
              <a:latin typeface="+mj-lt"/>
              <a:ea typeface="+mj-lt"/>
              <a:cs typeface="+mj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676262" y="1421258"/>
            <a:ext cx="496388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奥地利、比利时、丹麦三国</a:t>
            </a:r>
            <a:r>
              <a:rPr lang="en-US" altLang="zh-CN" dirty="0"/>
              <a:t>2015-2020</a:t>
            </a:r>
            <a:r>
              <a:rPr lang="zh-CN" altLang="en-US" dirty="0"/>
              <a:t>风力发电量统计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0"/>
            <a:ext cx="3345815" cy="810895"/>
            <a:chOff x="0" y="0"/>
            <a:chExt cx="5269" cy="1277"/>
          </a:xfrm>
        </p:grpSpPr>
        <p:sp>
          <p:nvSpPr>
            <p:cNvPr id="5" name="矩形 4"/>
            <p:cNvSpPr/>
            <p:nvPr/>
          </p:nvSpPr>
          <p:spPr>
            <a:xfrm>
              <a:off x="0" y="0"/>
              <a:ext cx="1781" cy="7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393A45"/>
                  </a:solidFill>
                  <a:latin typeface="+mj-ea"/>
                  <a:ea typeface="+mj-ea"/>
                  <a:sym typeface="+mn-lt"/>
                </a:rPr>
                <a:t>Task 2</a:t>
              </a:r>
              <a:endParaRPr lang="en-US" altLang="zh-CN" sz="2400" b="1">
                <a:solidFill>
                  <a:srgbClr val="393A45"/>
                </a:soli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6" name="Rectangle 120"/>
            <p:cNvSpPr/>
            <p:nvPr/>
          </p:nvSpPr>
          <p:spPr>
            <a:xfrm>
              <a:off x="0" y="794"/>
              <a:ext cx="5269" cy="4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defTabSz="609600">
                <a:defRPr/>
              </a:pPr>
              <a:r>
                <a:rPr kumimoji="1" lang="en-US" altLang="zh-CN" sz="1400" b="1" kern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微软雅黑" panose="020B0503020204020204" pitchFamily="34" charset="-122"/>
                  <a:cs typeface="+mn-ea"/>
                  <a:sym typeface="Calibri" panose="020F0502020204030204" pitchFamily="34" charset="0"/>
                </a:rPr>
                <a:t>不同国家的新能源出力分析</a:t>
              </a:r>
              <a:endParaRPr kumimoji="1" lang="en-US" altLang="zh-CN" sz="1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微软雅黑" panose="020B0503020204020204" pitchFamily="34" charset="-122"/>
                <a:cs typeface="+mn-ea"/>
                <a:sym typeface="Calibri" panose="020F0502020204030204" pitchFamily="34" charset="0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28270" y="1710690"/>
            <a:ext cx="3319780" cy="1722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丹麦风力发电发展充分的原因：</a:t>
            </a:r>
            <a:endParaRPr lang="en-US" altLang="zh-CN" sz="1800" b="1" dirty="0">
              <a:latin typeface="华文细黑" panose="02010600040101010101" charset="-122"/>
              <a:ea typeface="华文细黑" panose="02010600040101010101" charset="-122"/>
              <a:cs typeface="华文细黑" panose="02010600040101010101" charset="-122"/>
            </a:endParaRPr>
          </a:p>
          <a:p>
            <a:endParaRPr lang="en-US" altLang="zh-CN" sz="1800" b="1" dirty="0">
              <a:latin typeface="华文细黑" panose="02010600040101010101" charset="-122"/>
              <a:ea typeface="华文细黑" panose="02010600040101010101" charset="-122"/>
              <a:cs typeface="华文细黑" panose="02010600040101010101" charset="-122"/>
            </a:endParaRPr>
          </a:p>
          <a:p>
            <a:r>
              <a:rPr lang="en-US" altLang="zh-CN" sz="1400" b="1" dirty="0"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1.</a:t>
            </a:r>
            <a:r>
              <a:rPr lang="zh-CN" altLang="en-US" sz="1400" b="1" dirty="0"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丹麦煤炭、石油等化石能源缺乏</a:t>
            </a:r>
            <a:endParaRPr lang="en-US" altLang="zh-CN" sz="1400" b="1" dirty="0">
              <a:latin typeface="华文细黑" panose="02010600040101010101" charset="-122"/>
              <a:ea typeface="华文细黑" panose="02010600040101010101" charset="-122"/>
              <a:cs typeface="华文细黑" panose="02010600040101010101" charset="-122"/>
            </a:endParaRPr>
          </a:p>
          <a:p>
            <a:endParaRPr lang="en-US" altLang="zh-CN" sz="1400" b="1" dirty="0">
              <a:latin typeface="华文细黑" panose="02010600040101010101" charset="-122"/>
              <a:ea typeface="华文细黑" panose="02010600040101010101" charset="-122"/>
              <a:cs typeface="华文细黑" panose="02010600040101010101" charset="-122"/>
            </a:endParaRPr>
          </a:p>
          <a:p>
            <a:r>
              <a:rPr lang="en-US" altLang="zh-CN" sz="1400" b="1" dirty="0"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2.</a:t>
            </a:r>
            <a:r>
              <a:rPr lang="zh-CN" altLang="en-US" sz="1400" b="1" dirty="0"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地理位置</a:t>
            </a:r>
            <a:r>
              <a:rPr lang="en-US" altLang="zh-CN" sz="1400" b="1" dirty="0"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+</a:t>
            </a:r>
            <a:r>
              <a:rPr lang="zh-CN" altLang="en-US" sz="1400" b="1" dirty="0"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气候条件</a:t>
            </a:r>
            <a:endParaRPr lang="en-US" altLang="zh-CN" sz="1400" b="1" dirty="0">
              <a:latin typeface="华文细黑" panose="02010600040101010101" charset="-122"/>
              <a:ea typeface="华文细黑" panose="02010600040101010101" charset="-122"/>
              <a:cs typeface="华文细黑" panose="02010600040101010101" charset="-122"/>
            </a:endParaRPr>
          </a:p>
          <a:p>
            <a:endParaRPr lang="en-US" altLang="zh-CN" sz="1400" b="1" dirty="0">
              <a:latin typeface="华文细黑" panose="02010600040101010101" charset="-122"/>
              <a:ea typeface="华文细黑" panose="02010600040101010101" charset="-122"/>
              <a:cs typeface="华文细黑" panose="02010600040101010101" charset="-122"/>
            </a:endParaRPr>
          </a:p>
          <a:p>
            <a:r>
              <a:rPr lang="en-US" altLang="zh-CN" sz="1400" b="1" dirty="0"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3.</a:t>
            </a:r>
            <a:r>
              <a:rPr lang="zh-CN" altLang="en-US" sz="1400" b="1" dirty="0"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历史原因，技术成熟</a:t>
            </a:r>
            <a:endParaRPr lang="zh-CN" altLang="en-US" sz="1400" b="1" dirty="0">
              <a:latin typeface="华文细黑" panose="02010600040101010101" charset="-122"/>
              <a:ea typeface="华文细黑" panose="02010600040101010101" charset="-122"/>
              <a:cs typeface="华文细黑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4874" y="1407551"/>
            <a:ext cx="4927889" cy="3277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0"/>
            <a:ext cx="3345815" cy="810895"/>
            <a:chOff x="0" y="0"/>
            <a:chExt cx="5269" cy="1277"/>
          </a:xfrm>
        </p:grpSpPr>
        <p:sp>
          <p:nvSpPr>
            <p:cNvPr id="5" name="矩形 4"/>
            <p:cNvSpPr/>
            <p:nvPr/>
          </p:nvSpPr>
          <p:spPr>
            <a:xfrm>
              <a:off x="0" y="0"/>
              <a:ext cx="1781" cy="7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393A45"/>
                  </a:solidFill>
                  <a:latin typeface="+mj-ea"/>
                  <a:ea typeface="+mj-ea"/>
                  <a:sym typeface="+mn-lt"/>
                </a:rPr>
                <a:t>Task 2</a:t>
              </a:r>
              <a:endParaRPr lang="en-US" altLang="zh-CN" sz="2400" b="1" dirty="0">
                <a:solidFill>
                  <a:srgbClr val="393A45"/>
                </a:soli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6" name="Rectangle 120"/>
            <p:cNvSpPr/>
            <p:nvPr/>
          </p:nvSpPr>
          <p:spPr>
            <a:xfrm>
              <a:off x="0" y="794"/>
              <a:ext cx="5269" cy="4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defTabSz="609600">
                <a:defRPr/>
              </a:pPr>
              <a:r>
                <a:rPr kumimoji="1" lang="en-US" altLang="zh-CN" sz="1400" b="1" kern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微软雅黑" panose="020B0503020204020204" pitchFamily="34" charset="-122"/>
                  <a:cs typeface="+mn-ea"/>
                  <a:sym typeface="Calibri" panose="020F0502020204030204" pitchFamily="34" charset="0"/>
                </a:rPr>
                <a:t>不同国家的新能源出力分析</a:t>
              </a:r>
              <a:endParaRPr kumimoji="1" lang="en-US" altLang="zh-CN" sz="1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微软雅黑" panose="020B0503020204020204" pitchFamily="34" charset="-122"/>
                <a:cs typeface="+mn-ea"/>
                <a:sym typeface="Calibri" panose="020F0502020204030204" pitchFamily="34" charset="0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4207" y="1099981"/>
            <a:ext cx="6736702" cy="343164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214245" y="698500"/>
            <a:ext cx="4716145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奥地利、比利时、丹麦三国</a:t>
            </a:r>
            <a:r>
              <a:rPr lang="en-US" altLang="zh-CN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2015-2020</a:t>
            </a:r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年光伏发电量统计</a:t>
            </a:r>
            <a:endParaRPr lang="zh-CN" altLang="en-US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0"/>
            <a:ext cx="3345815" cy="810895"/>
            <a:chOff x="0" y="0"/>
            <a:chExt cx="5269" cy="1277"/>
          </a:xfrm>
        </p:grpSpPr>
        <p:sp>
          <p:nvSpPr>
            <p:cNvPr id="3" name="矩形 2"/>
            <p:cNvSpPr/>
            <p:nvPr/>
          </p:nvSpPr>
          <p:spPr>
            <a:xfrm>
              <a:off x="0" y="0"/>
              <a:ext cx="1781" cy="7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393A45"/>
                  </a:solidFill>
                  <a:latin typeface="+mj-ea"/>
                  <a:ea typeface="+mj-ea"/>
                  <a:sym typeface="+mn-lt"/>
                </a:rPr>
                <a:t>Task 2</a:t>
              </a:r>
              <a:endParaRPr lang="en-US" altLang="zh-CN" sz="2400" b="1" dirty="0">
                <a:solidFill>
                  <a:srgbClr val="393A45"/>
                </a:soli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4" name="Rectangle 120"/>
            <p:cNvSpPr/>
            <p:nvPr/>
          </p:nvSpPr>
          <p:spPr>
            <a:xfrm>
              <a:off x="0" y="794"/>
              <a:ext cx="5269" cy="4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defTabSz="609600">
                <a:defRPr/>
              </a:pPr>
              <a:r>
                <a:rPr kumimoji="1" lang="en-US" altLang="zh-CN" sz="1400" b="1" kern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微软雅黑" panose="020B0503020204020204" pitchFamily="34" charset="-122"/>
                  <a:cs typeface="+mn-ea"/>
                  <a:sym typeface="Calibri" panose="020F0502020204030204" pitchFamily="34" charset="0"/>
                </a:rPr>
                <a:t>不同国家的新能源出力分析</a:t>
              </a:r>
              <a:endParaRPr kumimoji="1" lang="en-US" altLang="zh-CN" sz="1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微软雅黑" panose="020B0503020204020204" pitchFamily="34" charset="-122"/>
                <a:cs typeface="+mn-ea"/>
                <a:sym typeface="Calibri" panose="020F0502020204030204" pitchFamily="34" charset="0"/>
              </a:endParaRPr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3021" y="1110570"/>
            <a:ext cx="5453743" cy="282458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26571" y="1334278"/>
            <a:ext cx="2108719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华文细黑" panose="02010600040101010101" charset="-122"/>
                <a:ea typeface="华文细黑" panose="02010600040101010101" charset="-122"/>
              </a:rPr>
              <a:t>基本特点：</a:t>
            </a:r>
            <a:endParaRPr lang="en-US" altLang="zh-CN" sz="1600" b="1" dirty="0">
              <a:latin typeface="华文细黑" panose="02010600040101010101" charset="-122"/>
              <a:ea typeface="华文细黑" panose="02010600040101010101" charset="-122"/>
            </a:endParaRPr>
          </a:p>
          <a:p>
            <a:r>
              <a:rPr lang="zh-CN" altLang="en-US" sz="1600" b="1" dirty="0">
                <a:latin typeface="华文细黑" panose="02010600040101010101" charset="-122"/>
                <a:ea typeface="华文细黑" panose="02010600040101010101" charset="-122"/>
              </a:rPr>
              <a:t>冬季光强较弱，光伏发电量较小。</a:t>
            </a:r>
            <a:endParaRPr lang="en-US" altLang="zh-CN" sz="1600" b="1" dirty="0">
              <a:latin typeface="华文细黑" panose="02010600040101010101" charset="-122"/>
              <a:ea typeface="华文细黑" panose="02010600040101010101" charset="-122"/>
            </a:endParaRPr>
          </a:p>
          <a:p>
            <a:r>
              <a:rPr lang="zh-CN" altLang="en-US" sz="1600" b="1" dirty="0">
                <a:latin typeface="华文细黑" panose="02010600040101010101" charset="-122"/>
                <a:ea typeface="华文细黑" panose="02010600040101010101" charset="-122"/>
              </a:rPr>
              <a:t>春季光强增长速度较大，光伏发电量快速增长。</a:t>
            </a:r>
            <a:endParaRPr lang="en-US" altLang="zh-CN" sz="1600" b="1" dirty="0">
              <a:latin typeface="华文细黑" panose="02010600040101010101" charset="-122"/>
              <a:ea typeface="华文细黑" panose="02010600040101010101" charset="-122"/>
            </a:endParaRPr>
          </a:p>
          <a:p>
            <a:r>
              <a:rPr lang="zh-CN" altLang="en-US" sz="1600" b="1" dirty="0">
                <a:latin typeface="华文细黑" panose="02010600040101010101" charset="-122"/>
                <a:ea typeface="华文细黑" panose="02010600040101010101" charset="-122"/>
              </a:rPr>
              <a:t>夏季光强最大，光伏发电量最大。</a:t>
            </a:r>
            <a:endParaRPr lang="en-US" altLang="zh-CN" sz="1600" b="1" dirty="0">
              <a:latin typeface="华文细黑" panose="02010600040101010101" charset="-122"/>
              <a:ea typeface="华文细黑" panose="02010600040101010101" charset="-122"/>
            </a:endParaRPr>
          </a:p>
          <a:p>
            <a:r>
              <a:rPr lang="zh-CN" altLang="en-US" sz="1600" b="1" dirty="0">
                <a:latin typeface="华文细黑" panose="02010600040101010101" charset="-122"/>
                <a:ea typeface="华文细黑" panose="02010600040101010101" charset="-122"/>
              </a:rPr>
              <a:t>秋季光强下降较快，光伏发电量逐渐减小。</a:t>
            </a:r>
            <a:endParaRPr lang="zh-CN" altLang="en-US" sz="1600" b="1" dirty="0">
              <a:latin typeface="华文细黑" panose="02010600040101010101" charset="-122"/>
              <a:ea typeface="华文细黑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335" y="974090"/>
            <a:ext cx="6831965" cy="348742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0" y="0"/>
            <a:ext cx="3345815" cy="810895"/>
            <a:chOff x="0" y="0"/>
            <a:chExt cx="5269" cy="1277"/>
          </a:xfrm>
        </p:grpSpPr>
        <p:sp>
          <p:nvSpPr>
            <p:cNvPr id="5" name="矩形 4"/>
            <p:cNvSpPr/>
            <p:nvPr/>
          </p:nvSpPr>
          <p:spPr>
            <a:xfrm>
              <a:off x="0" y="0"/>
              <a:ext cx="1781" cy="725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en-US" altLang="zh-CN" sz="2400" b="1" dirty="0">
                  <a:solidFill>
                    <a:srgbClr val="393A45"/>
                  </a:solidFill>
                  <a:latin typeface="+mj-ea"/>
                  <a:ea typeface="+mj-ea"/>
                  <a:sym typeface="+mn-lt"/>
                </a:rPr>
                <a:t>Task 2</a:t>
              </a:r>
              <a:endParaRPr lang="en-US" altLang="zh-CN" sz="2400" b="1" dirty="0">
                <a:solidFill>
                  <a:srgbClr val="393A45"/>
                </a:soli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6" name="Rectangle 120"/>
            <p:cNvSpPr/>
            <p:nvPr/>
          </p:nvSpPr>
          <p:spPr>
            <a:xfrm>
              <a:off x="0" y="794"/>
              <a:ext cx="5269" cy="483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defTabSz="609600">
                <a:defRPr/>
              </a:pPr>
              <a:r>
                <a:rPr kumimoji="1" lang="en-US" altLang="zh-CN" sz="1400" b="1" kern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微软雅黑" panose="020B0503020204020204" pitchFamily="34" charset="-122"/>
                  <a:cs typeface="+mn-ea"/>
                  <a:sym typeface="Calibri" panose="020F0502020204030204" pitchFamily="34" charset="0"/>
                </a:rPr>
                <a:t>不同国家的新能源出力分析：</a:t>
              </a:r>
              <a:r>
                <a:rPr kumimoji="1" lang="en-US" altLang="zh-CN" sz="1400" b="1" kern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微软雅黑" panose="020B0503020204020204" pitchFamily="34" charset="-122"/>
                  <a:cs typeface="+mn-ea"/>
                  <a:sym typeface="+mn-ea"/>
                </a:rPr>
                <a:t>尚待解决</a:t>
              </a:r>
              <a:endParaRPr kumimoji="1" lang="en-US" altLang="zh-CN" sz="1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微软雅黑" panose="020B0503020204020204" pitchFamily="34" charset="-122"/>
                <a:cs typeface="+mn-ea"/>
                <a:sym typeface="Calibri" panose="020F050202020403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0"/>
            <a:ext cx="3345815" cy="810895"/>
            <a:chOff x="0" y="0"/>
            <a:chExt cx="5269" cy="1277"/>
          </a:xfrm>
        </p:grpSpPr>
        <p:sp>
          <p:nvSpPr>
            <p:cNvPr id="5" name="矩形 4"/>
            <p:cNvSpPr/>
            <p:nvPr/>
          </p:nvSpPr>
          <p:spPr>
            <a:xfrm>
              <a:off x="0" y="0"/>
              <a:ext cx="1781" cy="725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en-US" altLang="zh-CN" sz="2400" b="1">
                  <a:solidFill>
                    <a:srgbClr val="393A45"/>
                  </a:solidFill>
                  <a:latin typeface="+mj-ea"/>
                  <a:ea typeface="+mj-ea"/>
                  <a:sym typeface="+mn-lt"/>
                </a:rPr>
                <a:t>Task 3</a:t>
              </a:r>
              <a:endParaRPr lang="en-US" altLang="zh-CN" sz="2400" b="1">
                <a:solidFill>
                  <a:srgbClr val="393A45"/>
                </a:soli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6" name="Rectangle 120"/>
            <p:cNvSpPr/>
            <p:nvPr/>
          </p:nvSpPr>
          <p:spPr>
            <a:xfrm>
              <a:off x="0" y="794"/>
              <a:ext cx="5269" cy="483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defTabSz="609600">
                <a:defRPr/>
              </a:pPr>
              <a:r>
                <a:rPr kumimoji="1" lang="en-US" altLang="zh-CN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微软雅黑" panose="020B0503020204020204" pitchFamily="34" charset="-122"/>
                  <a:cs typeface="+mn-ea"/>
                  <a:sym typeface="Calibri" panose="020F0502020204030204" pitchFamily="34" charset="0"/>
                </a:rPr>
                <a:t>日前新能源出力点预测模型分析</a:t>
              </a:r>
              <a:endParaRPr kumimoji="1" lang="en-US" altLang="zh-CN" sz="1400" b="1" ker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微软雅黑" panose="020B0503020204020204" pitchFamily="34" charset="-122"/>
                <a:cs typeface="+mn-ea"/>
                <a:sym typeface="Calibri" panose="020F0502020204030204" pitchFamily="34" charset="0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63550" y="823595"/>
            <a:ext cx="52101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以光伏预测的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model_GBDT</a:t>
            </a: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为例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查看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feature._importance_</a:t>
            </a: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，制表如下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6500178" y="1779270"/>
          <a:ext cx="2643505" cy="2181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/>
                <a:gridCol w="2071688"/>
              </a:tblGrid>
              <a:tr h="2260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temperature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radiation_direct_horizontal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radiation_diffuse_horizontal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4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dayofweek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month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dayofyear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VDay_sin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VDay_cos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9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hour_sin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10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hour_cos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11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month_sin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12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month_cos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5" y="1447165"/>
            <a:ext cx="6187440" cy="3238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0"/>
            <a:ext cx="7172325" cy="810895"/>
            <a:chOff x="0" y="0"/>
            <a:chExt cx="11295" cy="1277"/>
          </a:xfrm>
        </p:grpSpPr>
        <p:sp>
          <p:nvSpPr>
            <p:cNvPr id="5" name="矩形 4"/>
            <p:cNvSpPr/>
            <p:nvPr/>
          </p:nvSpPr>
          <p:spPr>
            <a:xfrm>
              <a:off x="0" y="0"/>
              <a:ext cx="1781" cy="725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en-US" altLang="zh-CN" sz="2400" b="1">
                  <a:solidFill>
                    <a:srgbClr val="393A45"/>
                  </a:solidFill>
                  <a:latin typeface="+mj-ea"/>
                  <a:ea typeface="+mj-ea"/>
                  <a:sym typeface="+mn-lt"/>
                </a:rPr>
                <a:t>Task 3</a:t>
              </a:r>
              <a:endParaRPr lang="en-US" altLang="zh-CN" sz="2400" b="1">
                <a:solidFill>
                  <a:srgbClr val="393A45"/>
                </a:soli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6" name="Rectangle 120"/>
            <p:cNvSpPr/>
            <p:nvPr/>
          </p:nvSpPr>
          <p:spPr>
            <a:xfrm>
              <a:off x="0" y="794"/>
              <a:ext cx="11295" cy="483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defTabSz="609600">
                <a:defRPr/>
              </a:pPr>
              <a:r>
                <a:rPr kumimoji="1" lang="en-US" altLang="zh-CN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微软雅黑" panose="020B0503020204020204" pitchFamily="34" charset="-122"/>
                  <a:cs typeface="+mn-ea"/>
                  <a:sym typeface="Calibri" panose="020F0502020204030204" pitchFamily="34" charset="0"/>
                </a:rPr>
                <a:t>日前新能源出力点预测模型分析</a:t>
              </a:r>
              <a:r>
                <a:rPr kumimoji="1" lang="zh-CN" altLang="en-US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微软雅黑" panose="020B0503020204020204" pitchFamily="34" charset="-122"/>
                  <a:cs typeface="+mn-ea"/>
                  <a:sym typeface="Calibri" panose="020F0502020204030204" pitchFamily="34" charset="0"/>
                </a:rPr>
                <a:t>：</a:t>
              </a:r>
              <a:r>
                <a:rPr kumimoji="1" lang="en-US" altLang="zh-CN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微软雅黑" panose="020B0503020204020204" pitchFamily="34" charset="-122"/>
                  <a:cs typeface="+mn-ea"/>
                  <a:sym typeface="+mn-ea"/>
                </a:rPr>
                <a:t>光伏出力计算的理论模型</a:t>
              </a:r>
              <a:endParaRPr kumimoji="1" lang="en-US" altLang="zh-CN" sz="1400" b="1" ker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微软雅黑" panose="020B0503020204020204" pitchFamily="34" charset="-122"/>
                <a:cs typeface="+mn-ea"/>
                <a:sym typeface="Calibri" panose="020F0502020204030204" pitchFamily="34" charset="0"/>
              </a:endParaRPr>
            </a:p>
          </p:txBody>
        </p:sp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810895"/>
            <a:ext cx="6595745" cy="40347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0"/>
            <a:ext cx="3345815" cy="810895"/>
            <a:chOff x="0" y="0"/>
            <a:chExt cx="5269" cy="1277"/>
          </a:xfrm>
        </p:grpSpPr>
        <p:sp>
          <p:nvSpPr>
            <p:cNvPr id="5" name="矩形 4"/>
            <p:cNvSpPr/>
            <p:nvPr/>
          </p:nvSpPr>
          <p:spPr>
            <a:xfrm>
              <a:off x="0" y="0"/>
              <a:ext cx="1781" cy="725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en-US" altLang="zh-CN" sz="2400" b="1">
                  <a:solidFill>
                    <a:srgbClr val="393A45"/>
                  </a:solidFill>
                  <a:latin typeface="+mj-ea"/>
                  <a:ea typeface="+mj-ea"/>
                  <a:sym typeface="+mn-lt"/>
                </a:rPr>
                <a:t>Task 3</a:t>
              </a:r>
              <a:endParaRPr lang="en-US" altLang="zh-CN" sz="2400" b="1">
                <a:solidFill>
                  <a:srgbClr val="393A45"/>
                </a:soli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6" name="Rectangle 120"/>
            <p:cNvSpPr/>
            <p:nvPr/>
          </p:nvSpPr>
          <p:spPr>
            <a:xfrm>
              <a:off x="0" y="794"/>
              <a:ext cx="5269" cy="483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defTabSz="609600">
                <a:defRPr/>
              </a:pPr>
              <a:r>
                <a:rPr kumimoji="1" lang="en-US" altLang="zh-CN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微软雅黑" panose="020B0503020204020204" pitchFamily="34" charset="-122"/>
                  <a:cs typeface="+mn-ea"/>
                  <a:sym typeface="Calibri" panose="020F0502020204030204" pitchFamily="34" charset="0"/>
                </a:rPr>
                <a:t>日前新能源出力点预测模型分析</a:t>
              </a:r>
              <a:endParaRPr kumimoji="1" lang="en-US" altLang="zh-CN" sz="1400" b="1" ker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微软雅黑" panose="020B0503020204020204" pitchFamily="34" charset="-122"/>
                <a:cs typeface="+mn-ea"/>
                <a:sym typeface="Calibri" panose="020F0502020204030204" pitchFamily="34" charset="0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63550" y="823595"/>
            <a:ext cx="521017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以风电预测的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model_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GBDT</a:t>
            </a: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为例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600" u="sng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为什么</a:t>
            </a:r>
            <a:r>
              <a:rPr lang="en-US" altLang="zh-CN" sz="1600" u="sng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GDBT</a:t>
            </a:r>
            <a:r>
              <a:rPr lang="zh-CN" altLang="en-US" sz="1600" u="sng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预测效果很差？</a:t>
            </a:r>
            <a:endParaRPr lang="zh-CN" altLang="en-US" sz="1600" u="sng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查看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feature._importance_</a:t>
            </a: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，制表如下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6514148" y="1443577"/>
          <a:ext cx="2643505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555"/>
                <a:gridCol w="1977390"/>
              </a:tblGrid>
              <a:tr h="2127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temperature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power_24h_ahead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power_48h_ahead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4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power_72h_ahead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power_168h_ahead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radiation_direct_horizontal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radiation_diffuse_horizontal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dayofweek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9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month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10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dayofyear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11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VDay_sin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12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VDay_cos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13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hour_sin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14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hour_cos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15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month_sin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16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month_cos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653540"/>
            <a:ext cx="6316980" cy="32994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0"/>
            <a:ext cx="7172325" cy="810895"/>
            <a:chOff x="0" y="0"/>
            <a:chExt cx="11295" cy="1277"/>
          </a:xfrm>
        </p:grpSpPr>
        <p:sp>
          <p:nvSpPr>
            <p:cNvPr id="5" name="矩形 4"/>
            <p:cNvSpPr/>
            <p:nvPr/>
          </p:nvSpPr>
          <p:spPr>
            <a:xfrm>
              <a:off x="0" y="0"/>
              <a:ext cx="1781" cy="725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en-US" altLang="zh-CN" sz="2400" b="1">
                  <a:solidFill>
                    <a:srgbClr val="393A45"/>
                  </a:solidFill>
                  <a:latin typeface="+mj-ea"/>
                  <a:ea typeface="+mj-ea"/>
                  <a:sym typeface="+mn-lt"/>
                </a:rPr>
                <a:t>Task 3</a:t>
              </a:r>
              <a:endParaRPr lang="en-US" altLang="zh-CN" sz="2400" b="1">
                <a:solidFill>
                  <a:srgbClr val="393A45"/>
                </a:soli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6" name="Rectangle 120"/>
            <p:cNvSpPr/>
            <p:nvPr/>
          </p:nvSpPr>
          <p:spPr>
            <a:xfrm>
              <a:off x="0" y="794"/>
              <a:ext cx="11295" cy="483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defTabSz="609600">
                <a:defRPr/>
              </a:pPr>
              <a:r>
                <a:rPr kumimoji="1" lang="en-US" altLang="zh-CN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微软雅黑" panose="020B0503020204020204" pitchFamily="34" charset="-122"/>
                  <a:cs typeface="+mn-ea"/>
                  <a:sym typeface="Calibri" panose="020F0502020204030204" pitchFamily="34" charset="0"/>
                </a:rPr>
                <a:t>日前新能源出力点预测模型分析</a:t>
              </a:r>
              <a:r>
                <a:rPr kumimoji="1" lang="zh-CN" altLang="en-US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微软雅黑" panose="020B0503020204020204" pitchFamily="34" charset="-122"/>
                  <a:cs typeface="+mn-ea"/>
                  <a:sym typeface="Calibri" panose="020F0502020204030204" pitchFamily="34" charset="0"/>
                </a:rPr>
                <a:t>：</a:t>
              </a:r>
              <a:r>
                <a:rPr kumimoji="1" lang="zh-CN" altLang="en-US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微软雅黑" panose="020B0503020204020204" pitchFamily="34" charset="-122"/>
                  <a:cs typeface="+mn-ea"/>
                  <a:sym typeface="+mn-ea"/>
                </a:rPr>
                <a:t>风电</a:t>
              </a:r>
              <a:r>
                <a:rPr kumimoji="1" lang="en-US" altLang="zh-CN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微软雅黑" panose="020B0503020204020204" pitchFamily="34" charset="-122"/>
                  <a:cs typeface="+mn-ea"/>
                  <a:sym typeface="+mn-ea"/>
                </a:rPr>
                <a:t>出力计算的理论模型</a:t>
              </a:r>
              <a:endParaRPr kumimoji="1" lang="en-US" altLang="zh-CN" sz="1400" b="1" ker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微软雅黑" panose="020B0503020204020204" pitchFamily="34" charset="-122"/>
                <a:cs typeface="+mn-ea"/>
                <a:sym typeface="Calibri" panose="020F0502020204030204" pitchFamily="34" charset="0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144780" y="1736725"/>
            <a:ext cx="2183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 b="1">
                <a:latin typeface="黑体" panose="02010609060101010101" charset="-122"/>
                <a:ea typeface="黑体" panose="02010609060101010101" charset="-122"/>
              </a:rPr>
              <a:t>单个风机出力模型：</a:t>
            </a:r>
            <a:endParaRPr lang="zh-CN" altLang="en-US" sz="18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095500" y="3239770"/>
            <a:ext cx="49523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Vci、Vco和Vr分别为风机的切入、切出和额定转速。</a:t>
            </a:r>
            <a:endParaRPr lang="zh-CN" altLang="en-US" sz="1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28370" y="3641725"/>
            <a:ext cx="13322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800" b="1">
                <a:latin typeface="黑体" panose="02010609060101010101" charset="-122"/>
                <a:ea typeface="黑体" panose="02010609060101010101" charset="-122"/>
                <a:sym typeface="+mn-ea"/>
              </a:rPr>
              <a:t>风场出力：</a:t>
            </a:r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3044190" y="3641663"/>
            <a:ext cx="2804160" cy="1200212"/>
            <a:chOff x="1404" y="7472"/>
            <a:chExt cx="4416" cy="1890"/>
          </a:xfrm>
        </p:grpSpPr>
        <p:graphicFrame>
          <p:nvGraphicFramePr>
            <p:cNvPr id="14" name="对象 13"/>
            <p:cNvGraphicFramePr>
              <a:graphicFrameLocks noChangeAspect="1"/>
            </p:cNvGraphicFramePr>
            <p:nvPr/>
          </p:nvGraphicFramePr>
          <p:xfrm>
            <a:off x="2102" y="7472"/>
            <a:ext cx="3619" cy="7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" name="Equation" r:id="rId1" imgW="1308100" imgH="254000" progId="Equation.DSMT4">
                    <p:embed/>
                  </p:oleObj>
                </mc:Choice>
                <mc:Fallback>
                  <p:oleObj name="Equation" r:id="rId1" imgW="1308100" imgH="254000" progId="Equation.DSMT4">
                    <p:embed/>
                    <p:pic>
                      <p:nvPicPr>
                        <p:cNvPr id="0" name="图片 3287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102" y="7472"/>
                          <a:ext cx="3619" cy="70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6" name="直接连接符 15"/>
            <p:cNvCxnSpPr/>
            <p:nvPr/>
          </p:nvCxnSpPr>
          <p:spPr>
            <a:xfrm>
              <a:off x="3685" y="8169"/>
              <a:ext cx="454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4252" y="8157"/>
              <a:ext cx="454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8" name="文本框 17"/>
            <p:cNvSpPr txBox="1"/>
            <p:nvPr/>
          </p:nvSpPr>
          <p:spPr>
            <a:xfrm>
              <a:off x="1404" y="8443"/>
              <a:ext cx="2848" cy="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考虑如尾流效应、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风机损耗等的效率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9" name="直接箭头连接符 18"/>
            <p:cNvCxnSpPr/>
            <p:nvPr/>
          </p:nvCxnSpPr>
          <p:spPr>
            <a:xfrm flipH="1">
              <a:off x="3494" y="8230"/>
              <a:ext cx="340" cy="21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/>
            <p:nvPr/>
          </p:nvCxnSpPr>
          <p:spPr>
            <a:xfrm>
              <a:off x="4492" y="8246"/>
              <a:ext cx="291" cy="22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22" name="文本框 21"/>
            <p:cNvSpPr txBox="1"/>
            <p:nvPr/>
          </p:nvSpPr>
          <p:spPr>
            <a:xfrm>
              <a:off x="4252" y="8496"/>
              <a:ext cx="1568" cy="5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风机数量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rcRect b="29219"/>
          <a:stretch>
            <a:fillRect/>
          </a:stretch>
        </p:blipFill>
        <p:spPr>
          <a:xfrm>
            <a:off x="2260600" y="1119505"/>
            <a:ext cx="6883400" cy="1758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0"/>
            <a:ext cx="7172325" cy="1027430"/>
            <a:chOff x="0" y="0"/>
            <a:chExt cx="11295" cy="1618"/>
          </a:xfrm>
        </p:grpSpPr>
        <p:sp>
          <p:nvSpPr>
            <p:cNvPr id="3" name="矩形 2"/>
            <p:cNvSpPr/>
            <p:nvPr/>
          </p:nvSpPr>
          <p:spPr>
            <a:xfrm>
              <a:off x="0" y="0"/>
              <a:ext cx="3623" cy="72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393A45"/>
                  </a:solidFill>
                  <a:latin typeface="+mj-ea"/>
                  <a:ea typeface="+mj-ea"/>
                  <a:sym typeface="+mn-lt"/>
                </a:rPr>
                <a:t>Task Add </a:t>
              </a:r>
              <a:r>
                <a:rPr lang="zh-CN" altLang="en-US" sz="2400" b="1" dirty="0">
                  <a:solidFill>
                    <a:srgbClr val="393A45"/>
                  </a:solidFill>
                  <a:latin typeface="+mj-ea"/>
                  <a:ea typeface="+mj-ea"/>
                  <a:sym typeface="+mn-lt"/>
                </a:rPr>
                <a:t>思路</a:t>
              </a:r>
              <a:endParaRPr lang="en-US" altLang="zh-CN" sz="2400" b="1" dirty="0">
                <a:solidFill>
                  <a:srgbClr val="393A45"/>
                </a:soli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4" name="Rectangle 120"/>
            <p:cNvSpPr/>
            <p:nvPr/>
          </p:nvSpPr>
          <p:spPr>
            <a:xfrm>
              <a:off x="0" y="794"/>
              <a:ext cx="11295" cy="8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defTabSz="609600">
                <a:defRPr/>
              </a:pPr>
              <a:r>
                <a:rPr kumimoji="1" lang="zh-CN" altLang="en-US" sz="14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微软雅黑" panose="020B0503020204020204" pitchFamily="34" charset="-122"/>
                  <a:cs typeface="+mn-ea"/>
                </a:rPr>
                <a:t>基于历史数据进行日前新能源出力</a:t>
              </a:r>
              <a:r>
                <a:rPr kumimoji="1" lang="zh-CN" altLang="en-US" sz="14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highlight>
                    <a:srgbClr val="FFFF00"/>
                  </a:highlight>
                  <a:latin typeface="+mj-lt"/>
                  <a:ea typeface="微软雅黑" panose="020B0503020204020204" pitchFamily="34" charset="-122"/>
                  <a:cs typeface="+mn-ea"/>
                </a:rPr>
                <a:t>概率预测 </a:t>
              </a:r>
              <a:br>
                <a:rPr kumimoji="1" lang="zh-CN" altLang="en-US" sz="14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highlight>
                    <a:srgbClr val="FFFF00"/>
                  </a:highlight>
                  <a:latin typeface="+mj-lt"/>
                  <a:ea typeface="微软雅黑" panose="020B0503020204020204" pitchFamily="34" charset="-122"/>
                  <a:cs typeface="+mn-ea"/>
                </a:rPr>
              </a:br>
              <a:endParaRPr kumimoji="1" lang="en-US" altLang="zh-CN" sz="1400" b="1" kern="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+mj-lt"/>
                <a:ea typeface="微软雅黑" panose="020B0503020204020204" pitchFamily="34" charset="-122"/>
                <a:cs typeface="+mn-ea"/>
                <a:sym typeface="Calibri" panose="020F0502020204030204" pitchFamily="34" charset="0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2412241" y="900694"/>
            <a:ext cx="29137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微软雅黑" panose="020B0503020204020204" pitchFamily="34" charset="-122"/>
                <a:cs typeface="+mn-ea"/>
              </a:rPr>
              <a:t>确定性预测 </a:t>
            </a:r>
            <a:r>
              <a:rPr kumimoji="1" lang="en-US" altLang="zh-CN" sz="2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微软雅黑" panose="020B0503020204020204" pitchFamily="34" charset="-122"/>
                <a:cs typeface="+mn-ea"/>
              </a:rPr>
              <a:t>vs </a:t>
            </a:r>
            <a:r>
              <a:rPr kumimoji="1" lang="zh-CN" altLang="en-US" sz="2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微软雅黑" panose="020B0503020204020204" pitchFamily="34" charset="-122"/>
                <a:cs typeface="+mn-ea"/>
              </a:rPr>
              <a:t>概率预测</a:t>
            </a:r>
            <a:endParaRPr kumimoji="1" lang="zh-CN" altLang="en-US" sz="2000" b="1" kern="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3766" y="1562669"/>
            <a:ext cx="3352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600" dirty="0"/>
              <a:t>输出为未来某时刻的单点期望值</a:t>
            </a:r>
            <a:endParaRPr lang="zh-CN" altLang="en-US" sz="1600" dirty="0"/>
          </a:p>
        </p:txBody>
      </p:sp>
      <p:sp>
        <p:nvSpPr>
          <p:cNvPr id="8" name="文本框 7"/>
          <p:cNvSpPr txBox="1"/>
          <p:nvPr/>
        </p:nvSpPr>
        <p:spPr>
          <a:xfrm>
            <a:off x="3505562" y="1556974"/>
            <a:ext cx="39006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600" dirty="0"/>
              <a:t>输出为</a:t>
            </a:r>
            <a:r>
              <a:rPr lang="zh-CN" altLang="en-US" sz="1600" dirty="0">
                <a:highlight>
                  <a:srgbClr val="FFFF00"/>
                </a:highlight>
              </a:rPr>
              <a:t>分位数、预测区间、概率密度</a:t>
            </a:r>
            <a:endParaRPr lang="zh-CN" altLang="en-US" sz="1600" dirty="0">
              <a:highlight>
                <a:srgbClr val="FFFF00"/>
              </a:highlight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3764" y="3400465"/>
            <a:ext cx="3352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600" dirty="0"/>
              <a:t>提供的预测信息较为有限</a:t>
            </a:r>
            <a:endParaRPr lang="zh-CN" altLang="en-US" sz="1600" dirty="0"/>
          </a:p>
        </p:txBody>
      </p:sp>
      <p:sp>
        <p:nvSpPr>
          <p:cNvPr id="10" name="文本框 9"/>
          <p:cNvSpPr txBox="1"/>
          <p:nvPr/>
        </p:nvSpPr>
        <p:spPr>
          <a:xfrm>
            <a:off x="3505561" y="3400047"/>
            <a:ext cx="3352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600" dirty="0"/>
              <a:t>提供较为完整的</a:t>
            </a:r>
            <a:r>
              <a:rPr lang="zh-CN" altLang="en-US" sz="1600" dirty="0">
                <a:highlight>
                  <a:srgbClr val="FFFF00"/>
                </a:highlight>
              </a:rPr>
              <a:t>概率统计信息</a:t>
            </a:r>
            <a:endParaRPr lang="zh-CN" altLang="en-US" sz="1600" dirty="0">
              <a:highlight>
                <a:srgbClr val="FFFF00"/>
              </a:highlight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3765" y="2481358"/>
            <a:ext cx="3352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600" dirty="0"/>
              <a:t>预测结果存在较高的不确定性</a:t>
            </a:r>
            <a:endParaRPr lang="zh-CN" altLang="en-US" sz="1600" dirty="0"/>
          </a:p>
        </p:txBody>
      </p:sp>
      <p:sp>
        <p:nvSpPr>
          <p:cNvPr id="12" name="文本框 11"/>
          <p:cNvSpPr txBox="1"/>
          <p:nvPr/>
        </p:nvSpPr>
        <p:spPr>
          <a:xfrm>
            <a:off x="3505562" y="2475435"/>
            <a:ext cx="3352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600" dirty="0"/>
              <a:t>可对预测不确定性进行</a:t>
            </a:r>
            <a:r>
              <a:rPr lang="zh-CN" altLang="en-US" sz="1600" dirty="0">
                <a:highlight>
                  <a:srgbClr val="FFFF00"/>
                </a:highlight>
              </a:rPr>
              <a:t>量化分析</a:t>
            </a:r>
            <a:endParaRPr lang="zh-CN" altLang="en-US" sz="1600" dirty="0">
              <a:highlight>
                <a:srgbClr val="FFFF00"/>
              </a:highlight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5880" y="2983161"/>
            <a:ext cx="2354356" cy="2003581"/>
          </a:xfrm>
          <a:prstGeom prst="rect">
            <a:avLst/>
          </a:prstGeom>
        </p:spPr>
      </p:pic>
      <p:sp>
        <p:nvSpPr>
          <p:cNvPr id="15" name="云形 14"/>
          <p:cNvSpPr/>
          <p:nvPr/>
        </p:nvSpPr>
        <p:spPr>
          <a:xfrm>
            <a:off x="1221474" y="3889612"/>
            <a:ext cx="4851779" cy="749698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确定性预测结果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/>
              <a:t>概率预测？</a:t>
            </a:r>
            <a:r>
              <a:rPr lang="zh-CN" altLang="en-US" b="1" dirty="0"/>
              <a:t>误差分布！</a:t>
            </a:r>
            <a:endParaRPr lang="zh-CN" altLang="en-US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0" y="0"/>
            <a:ext cx="7172325" cy="1027430"/>
            <a:chOff x="0" y="0"/>
            <a:chExt cx="11295" cy="1618"/>
          </a:xfrm>
        </p:grpSpPr>
        <p:sp>
          <p:nvSpPr>
            <p:cNvPr id="7" name="矩形 6"/>
            <p:cNvSpPr/>
            <p:nvPr/>
          </p:nvSpPr>
          <p:spPr>
            <a:xfrm>
              <a:off x="0" y="0"/>
              <a:ext cx="3623" cy="72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393A45"/>
                  </a:solidFill>
                  <a:latin typeface="+mj-ea"/>
                  <a:ea typeface="+mj-ea"/>
                  <a:sym typeface="+mn-lt"/>
                </a:rPr>
                <a:t>Task Add </a:t>
              </a:r>
              <a:r>
                <a:rPr lang="zh-CN" altLang="en-US" sz="2400" b="1" dirty="0">
                  <a:solidFill>
                    <a:srgbClr val="393A45"/>
                  </a:solidFill>
                  <a:latin typeface="+mj-ea"/>
                  <a:ea typeface="+mj-ea"/>
                  <a:sym typeface="+mn-lt"/>
                </a:rPr>
                <a:t>思路</a:t>
              </a:r>
              <a:endParaRPr lang="en-US" altLang="zh-CN" sz="2400" b="1" dirty="0">
                <a:solidFill>
                  <a:srgbClr val="393A45"/>
                </a:solidFill>
                <a:latin typeface="+mj-ea"/>
                <a:ea typeface="+mj-ea"/>
                <a:sym typeface="+mn-lt"/>
              </a:endParaRPr>
            </a:p>
          </p:txBody>
        </p:sp>
        <p:sp>
          <p:nvSpPr>
            <p:cNvPr id="8" name="Rectangle 120"/>
            <p:cNvSpPr/>
            <p:nvPr/>
          </p:nvSpPr>
          <p:spPr>
            <a:xfrm>
              <a:off x="0" y="794"/>
              <a:ext cx="11295" cy="8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defTabSz="609600">
                <a:defRPr/>
              </a:pPr>
              <a:r>
                <a:rPr kumimoji="1" lang="zh-CN" altLang="en-US" sz="14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微软雅黑" panose="020B0503020204020204" pitchFamily="34" charset="-122"/>
                  <a:cs typeface="+mn-ea"/>
                </a:rPr>
                <a:t>基于历史数据进行日前新能源出力</a:t>
              </a:r>
              <a:r>
                <a:rPr kumimoji="1" lang="zh-CN" altLang="en-US" sz="14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highlight>
                    <a:srgbClr val="FFFF00"/>
                  </a:highlight>
                  <a:latin typeface="+mj-lt"/>
                  <a:ea typeface="微软雅黑" panose="020B0503020204020204" pitchFamily="34" charset="-122"/>
                  <a:cs typeface="+mn-ea"/>
                </a:rPr>
                <a:t>概率预测 </a:t>
              </a:r>
              <a:br>
                <a:rPr kumimoji="1" lang="zh-CN" altLang="en-US" sz="14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highlight>
                    <a:srgbClr val="FFFF00"/>
                  </a:highlight>
                  <a:latin typeface="+mj-lt"/>
                  <a:ea typeface="微软雅黑" panose="020B0503020204020204" pitchFamily="34" charset="-122"/>
                  <a:cs typeface="+mn-ea"/>
                </a:rPr>
              </a:br>
              <a:endParaRPr kumimoji="1" lang="en-US" altLang="zh-CN" sz="1400" b="1" kern="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+mj-lt"/>
                <a:ea typeface="微软雅黑" panose="020B0503020204020204" pitchFamily="34" charset="-122"/>
                <a:cs typeface="+mn-ea"/>
                <a:sym typeface="Calibri" panose="020F0502020204030204" pitchFamily="34" charset="0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664415" y="1173487"/>
            <a:ext cx="42456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由于已经在</a:t>
            </a:r>
            <a:r>
              <a:rPr lang="en-US" altLang="zh-CN" sz="1600" b="1" dirty="0"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Task1</a:t>
            </a:r>
            <a:r>
              <a:rPr lang="zh-CN" altLang="en-US" sz="1600" b="1" dirty="0"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中得到了确定性预测，只需要对</a:t>
            </a:r>
            <a:r>
              <a:rPr lang="zh-CN" altLang="en-US" sz="1600" b="1" dirty="0">
                <a:solidFill>
                  <a:srgbClr val="FF0000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预测误差分布</a:t>
            </a:r>
            <a:r>
              <a:rPr lang="zh-CN" altLang="en-US" sz="1600" b="1" dirty="0"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进行统计，求出预测区间的</a:t>
            </a:r>
            <a:r>
              <a:rPr lang="zh-CN" altLang="en-US" sz="1600" b="1" dirty="0">
                <a:solidFill>
                  <a:srgbClr val="FF0000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上、下界</a:t>
            </a:r>
            <a:r>
              <a:rPr lang="zh-CN" altLang="en-US" sz="1600" b="1" dirty="0"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即可。</a:t>
            </a:r>
            <a:endParaRPr lang="zh-CN" altLang="en-US" sz="1600" b="1" dirty="0">
              <a:latin typeface="华文细黑" panose="02010600040101010101" charset="-122"/>
              <a:ea typeface="华文细黑" panose="02010600040101010101" charset="-122"/>
              <a:cs typeface="华文细黑" panose="02010600040101010101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7575" y="2473376"/>
            <a:ext cx="3720715" cy="1971281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209733" y="2134822"/>
            <a:ext cx="1064525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细黑" panose="02010600040101010101" charset="-122"/>
                <a:ea typeface="华文细黑" panose="02010600040101010101" charset="-122"/>
              </a:rPr>
              <a:t>数据集数据</a:t>
            </a:r>
            <a:endParaRPr lang="zh-CN" altLang="en-US" b="1" dirty="0">
              <a:latin typeface="华文细黑" panose="02010600040101010101" charset="-122"/>
              <a:ea typeface="华文细黑" panose="02010600040101010101" charset="-122"/>
            </a:endParaRPr>
          </a:p>
        </p:txBody>
      </p:sp>
      <p:cxnSp>
        <p:nvCxnSpPr>
          <p:cNvPr id="13" name="连接符: 曲线 12"/>
          <p:cNvCxnSpPr>
            <a:stCxn id="12" idx="1"/>
          </p:cNvCxnSpPr>
          <p:nvPr/>
        </p:nvCxnSpPr>
        <p:spPr>
          <a:xfrm rot="10800000" flipV="1">
            <a:off x="2142701" y="2284862"/>
            <a:ext cx="4067033" cy="280917"/>
          </a:xfrm>
          <a:prstGeom prst="curvedConnector3">
            <a:avLst>
              <a:gd name="adj1" fmla="val 966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6271307" y="2565780"/>
            <a:ext cx="91226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细黑" panose="02010600040101010101" charset="-122"/>
                <a:ea typeface="华文细黑" panose="02010600040101010101" charset="-122"/>
              </a:rPr>
              <a:t>输入权重</a:t>
            </a:r>
            <a:endParaRPr lang="zh-CN" altLang="en-US" b="1" dirty="0">
              <a:latin typeface="华文细黑" panose="02010600040101010101" charset="-122"/>
              <a:ea typeface="华文细黑" panose="02010600040101010101" charset="-122"/>
            </a:endParaRPr>
          </a:p>
        </p:txBody>
      </p:sp>
      <p:cxnSp>
        <p:nvCxnSpPr>
          <p:cNvPr id="15" name="连接符: 曲线 14"/>
          <p:cNvCxnSpPr>
            <a:stCxn id="14" idx="1"/>
          </p:cNvCxnSpPr>
          <p:nvPr/>
        </p:nvCxnSpPr>
        <p:spPr>
          <a:xfrm rot="10800000">
            <a:off x="3159467" y="2565785"/>
            <a:ext cx="3111841" cy="15003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6264641" y="2999239"/>
            <a:ext cx="100961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细黑" panose="02010600040101010101" charset="-122"/>
                <a:ea typeface="华文细黑" panose="02010600040101010101" charset="-122"/>
              </a:rPr>
              <a:t>激励函数</a:t>
            </a:r>
            <a:endParaRPr lang="zh-CN" altLang="en-US" b="1" dirty="0">
              <a:latin typeface="华文细黑" panose="02010600040101010101" charset="-122"/>
              <a:ea typeface="华文细黑" panose="02010600040101010101" charset="-122"/>
            </a:endParaRPr>
          </a:p>
        </p:txBody>
      </p:sp>
      <p:cxnSp>
        <p:nvCxnSpPr>
          <p:cNvPr id="17" name="连接符: 曲线 16"/>
          <p:cNvCxnSpPr>
            <a:stCxn id="16" idx="1"/>
          </p:cNvCxnSpPr>
          <p:nvPr/>
        </p:nvCxnSpPr>
        <p:spPr>
          <a:xfrm rot="10800000">
            <a:off x="3787255" y="2640844"/>
            <a:ext cx="2477386" cy="50843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6229883" y="3839186"/>
            <a:ext cx="114716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细黑" panose="02010600040101010101" charset="-122"/>
                <a:ea typeface="华文细黑" panose="02010600040101010101" charset="-122"/>
              </a:rPr>
              <a:t>区间分位点</a:t>
            </a:r>
            <a:endParaRPr lang="zh-CN" altLang="en-US" b="1" dirty="0">
              <a:latin typeface="华文细黑" panose="02010600040101010101" charset="-122"/>
              <a:ea typeface="华文细黑" panose="02010600040101010101" charset="-122"/>
            </a:endParaRPr>
          </a:p>
        </p:txBody>
      </p:sp>
      <p:cxnSp>
        <p:nvCxnSpPr>
          <p:cNvPr id="19" name="连接符: 曲线 18"/>
          <p:cNvCxnSpPr>
            <a:stCxn id="18" idx="1"/>
          </p:cNvCxnSpPr>
          <p:nvPr/>
        </p:nvCxnSpPr>
        <p:spPr>
          <a:xfrm rot="10800000">
            <a:off x="5025949" y="3059185"/>
            <a:ext cx="1203935" cy="93004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曲线 19"/>
          <p:cNvCxnSpPr>
            <a:stCxn id="18" idx="1"/>
          </p:cNvCxnSpPr>
          <p:nvPr/>
        </p:nvCxnSpPr>
        <p:spPr>
          <a:xfrm rot="10800000">
            <a:off x="5240741" y="3721949"/>
            <a:ext cx="989142" cy="26727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6285861" y="3392842"/>
            <a:ext cx="91226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细黑" panose="02010600040101010101" charset="-122"/>
                <a:ea typeface="华文细黑" panose="02010600040101010101" charset="-122"/>
              </a:rPr>
              <a:t>输出权重</a:t>
            </a:r>
            <a:endParaRPr lang="zh-CN" altLang="en-US" b="1" dirty="0">
              <a:latin typeface="华文细黑" panose="02010600040101010101" charset="-122"/>
              <a:ea typeface="华文细黑" panose="02010600040101010101" charset="-122"/>
            </a:endParaRPr>
          </a:p>
        </p:txBody>
      </p:sp>
      <p:cxnSp>
        <p:nvCxnSpPr>
          <p:cNvPr id="22" name="连接符: 曲线 21"/>
          <p:cNvCxnSpPr>
            <a:stCxn id="21" idx="1"/>
          </p:cNvCxnSpPr>
          <p:nvPr/>
        </p:nvCxnSpPr>
        <p:spPr>
          <a:xfrm rot="10800000">
            <a:off x="4383395" y="2760975"/>
            <a:ext cx="1902466" cy="78190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810573" y="1825452"/>
            <a:ext cx="24180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>
                <a:solidFill>
                  <a:srgbClr val="393A45"/>
                </a:solidFill>
                <a:latin typeface="+mj-ea"/>
                <a:ea typeface="+mj-ea"/>
              </a:rPr>
              <a:t>课堂讨论</a:t>
            </a:r>
            <a:endParaRPr lang="zh-CN" altLang="en-US" sz="4400" b="1">
              <a:solidFill>
                <a:srgbClr val="393A45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94715" y="1325880"/>
            <a:ext cx="7353935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800" b="1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[</a:t>
            </a:r>
            <a:r>
              <a:rPr lang="en-US" altLang="zh-CN" sz="1800" b="1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1</a:t>
            </a:r>
            <a:r>
              <a:rPr lang="zh-CN" altLang="en-US" sz="1800" b="1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]罗澍忻,陆秋瑜,靳冰洁,麻敏华.考虑相关因素的长短时记忆网络短期负荷预测方法[J].机电工程技术,2019,48(12):126-129</a:t>
            </a:r>
            <a:r>
              <a:rPr lang="zh-CN" altLang="en-US" sz="1800" b="1" dirty="0" smtClean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.</a:t>
            </a:r>
            <a:endParaRPr lang="zh-CN" altLang="en-US" sz="1800" b="1" dirty="0" smtClean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  <a:sym typeface="+mn-ea"/>
            </a:endParaRPr>
          </a:p>
          <a:p>
            <a:pPr algn="l"/>
            <a:endParaRPr lang="zh-CN" altLang="en-US" sz="1800" b="1" dirty="0" smtClean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  <a:sym typeface="+mn-ea"/>
            </a:endParaRPr>
          </a:p>
          <a:p>
            <a:pPr algn="l"/>
            <a:r>
              <a:rPr lang="zh-CN" altLang="en-US" sz="1800" b="1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[</a:t>
            </a:r>
            <a:r>
              <a:rPr lang="en-US" altLang="zh-CN" sz="1800" b="1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2</a:t>
            </a:r>
            <a:r>
              <a:rPr lang="zh-CN" altLang="en-US" sz="1800" b="1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]陆继翔,张琪培,杨志宏,涂孟夫,陆进军,彭晖.基于CNN-LSTM混合神经网络模型的短期负荷预测方法[J].电力系统自动化,2019,43(08):131-137</a:t>
            </a:r>
            <a:r>
              <a:rPr lang="zh-CN" altLang="en-US" sz="1800" b="1" dirty="0" smtClean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.</a:t>
            </a:r>
            <a:endParaRPr lang="zh-CN" altLang="en-US" sz="1800" b="1" dirty="0" smtClean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  <a:sym typeface="+mn-ea"/>
            </a:endParaRPr>
          </a:p>
          <a:p>
            <a:pPr algn="l"/>
            <a:endParaRPr lang="zh-CN" altLang="en-US" sz="1800" dirty="0" smtClean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  <a:sym typeface="+mn-ea"/>
            </a:endParaRPr>
          </a:p>
          <a:p>
            <a:pPr algn="l"/>
            <a:r>
              <a:rPr lang="en-US" altLang="zh-CN" sz="1800" b="1" dirty="0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[3]</a:t>
            </a:r>
            <a:r>
              <a:rPr lang="en-US" altLang="zh-CN" sz="1800" dirty="0">
                <a:latin typeface="Times New Roman" panose="02020603050405020304" charset="0"/>
                <a:ea typeface="新宋体" panose="02010609030101010101" charset="-122"/>
                <a:cs typeface="Times New Roman" panose="02020603050405020304" charset="0"/>
              </a:rPr>
              <a:t>Deshmukh M K , Deshmukh S S . Modeling of hybrid renewable energy systems[J]. Renewable and Sustainable Energy Reviews, 2008, 12(1):235-249.</a:t>
            </a:r>
            <a:endParaRPr lang="en-US" altLang="zh-CN" sz="1800" dirty="0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</a:endParaRPr>
          </a:p>
          <a:p>
            <a:pPr algn="l"/>
            <a:endParaRPr lang="zh-CN" alt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zh-CN" altLang="en-US" sz="1800" b="1" dirty="0" smtClean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22345" y="609600"/>
            <a:ext cx="2099310" cy="5530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3000" b="1" dirty="0" smtClean="0">
                <a:latin typeface="黑体" panose="02010609060101010101" charset="-122"/>
                <a:ea typeface="黑体" panose="02010609060101010101" charset="-122"/>
                <a:sym typeface="+mn-ea"/>
              </a:rPr>
              <a:t>[</a:t>
            </a:r>
            <a:r>
              <a:rPr lang="zh-CN" altLang="en-US" sz="3000" b="1" dirty="0" smtClean="0">
                <a:latin typeface="黑体" panose="02010609060101010101" charset="-122"/>
                <a:ea typeface="黑体" panose="02010609060101010101" charset="-122"/>
                <a:sym typeface="+mn-ea"/>
              </a:rPr>
              <a:t>参考文献</a:t>
            </a:r>
            <a:r>
              <a:rPr lang="en-US" altLang="zh-CN" sz="3000" b="1" dirty="0" smtClean="0">
                <a:latin typeface="黑体" panose="02010609060101010101" charset="-122"/>
                <a:ea typeface="黑体" panose="02010609060101010101" charset="-122"/>
                <a:sym typeface="+mn-ea"/>
              </a:rPr>
              <a:t>]</a:t>
            </a:r>
            <a:endParaRPr lang="en-US" altLang="zh-CN" sz="3000" b="1" dirty="0" smtClean="0"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379880" y="1775297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rgbClr val="393A45"/>
                </a:solidFill>
                <a:latin typeface="+mj-ea"/>
                <a:ea typeface="+mj-ea"/>
              </a:rPr>
              <a:t>感谢观看</a:t>
            </a:r>
            <a:endParaRPr lang="zh-CN" altLang="en-US" sz="4000" b="1">
              <a:solidFill>
                <a:srgbClr val="393A45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ags/tag1.xml><?xml version="1.0" encoding="utf-8"?>
<p:tagLst xmlns:p="http://schemas.openxmlformats.org/presentationml/2006/main">
  <p:tag name="KSO_WM_UNIT_PLACING_PICTURE_USER_VIEWPORT" val="{&quot;height&quot;:2508,&quot;width&quot;:7932}"/>
</p:tagLst>
</file>

<file path=ppt/tags/tag2.xml><?xml version="1.0" encoding="utf-8"?>
<p:tagLst xmlns:p="http://schemas.openxmlformats.org/presentationml/2006/main">
  <p:tag name="KSO_WM_UNIT_TABLE_BEAUTIFY" val="smartTable{7b692325-21fe-4e86-9584-81eb90154453}"/>
</p:tagLst>
</file>

<file path=ppt/tags/tag3.xml><?xml version="1.0" encoding="utf-8"?>
<p:tagLst xmlns:p="http://schemas.openxmlformats.org/presentationml/2006/main">
  <p:tag name="KSO_WM_UNIT_PLACING_PICTURE_USER_VIEWPORT" val="{&quot;height&quot;:5064,&quot;width&quot;:12180}"/>
</p:tagLst>
</file>

<file path=ppt/tags/tag4.xml><?xml version="1.0" encoding="utf-8"?>
<p:tagLst xmlns:p="http://schemas.openxmlformats.org/presentationml/2006/main">
  <p:tag name="KSO_WM_UNIT_TABLE_BEAUTIFY" val="smartTable{7b692325-21fe-4e86-9584-81eb90154453}"/>
</p:tagLst>
</file>

<file path=ppt/tags/tag5.xml><?xml version="1.0" encoding="utf-8"?>
<p:tagLst xmlns:p="http://schemas.openxmlformats.org/presentationml/2006/main">
  <p:tag name="KSO_WM_UNIT_TABLE_BEAUTIFY" val="smartTable{d1893591-00ce-4b1b-af16-6ac4677be18a}"/>
</p:tagLst>
</file>

<file path=ppt/tags/tag6.xml><?xml version="1.0" encoding="utf-8"?>
<p:tagLst xmlns:p="http://schemas.openxmlformats.org/presentationml/2006/main">
  <p:tag name="KSO_WM_UNIT_TABLE_BEAUTIFY" val="smartTable{0d7f8601-1417-41e4-b6ea-990118b9e43b}"/>
</p:tagLst>
</file>

<file path=ppt/tags/tag7.xml><?xml version="1.0" encoding="utf-8"?>
<p:tagLst xmlns:p="http://schemas.openxmlformats.org/presentationml/2006/main">
  <p:tag name="COMMONDATA" val="eyJjb3VudCI6MjUsImhkaWQiOiIyNWE1MjI3ZWU2MTZmOGExOTQwNDIxZjJjODgxYjY4YyIsInVzZXJDb3VudCI6MjV9"/>
</p:tagLst>
</file>

<file path=ppt/theme/theme1.xml><?xml version="1.0" encoding="utf-8"?>
<a:theme xmlns:a="http://schemas.openxmlformats.org/drawingml/2006/main" name="Office 主题">
  <a:themeElements>
    <a:clrScheme name="自定义 38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B9DD3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00"/>
      </a:hlink>
      <a:folHlink>
        <a:srgbClr val="954F72"/>
      </a:folHlink>
    </a:clrScheme>
    <a:fontScheme name="标准3">
      <a:majorFont>
        <a:latin typeface="华文细黑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2920</Words>
  <Application>WPS 演示</Application>
  <PresentationFormat>全屏显示(16:9)</PresentationFormat>
  <Paragraphs>451</Paragraphs>
  <Slides>26</Slides>
  <Notes>23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1" baseType="lpstr">
      <vt:lpstr>Arial</vt:lpstr>
      <vt:lpstr>宋体</vt:lpstr>
      <vt:lpstr>Wingdings</vt:lpstr>
      <vt:lpstr>黑体</vt:lpstr>
      <vt:lpstr>微软雅黑</vt:lpstr>
      <vt:lpstr>Calibri</vt:lpstr>
      <vt:lpstr>新宋体</vt:lpstr>
      <vt:lpstr>Arial Unicode MS</vt:lpstr>
      <vt:lpstr>华文细黑</vt:lpstr>
      <vt:lpstr>微软雅黑 Light</vt:lpstr>
      <vt:lpstr>Calibri Light</vt:lpstr>
      <vt:lpstr>等线</vt:lpstr>
      <vt:lpstr>Times New Roman</vt:lpstr>
      <vt:lpstr>Office 主题</vt:lpstr>
      <vt:lpstr>Equation.DSMT4</vt:lpstr>
      <vt:lpstr>PowerPoint 演示文稿</vt:lpstr>
      <vt:lpstr>PowerPoint 演示文稿</vt:lpstr>
      <vt:lpstr>PowerPoint 演示文稿</vt:lpstr>
      <vt:lpstr>数据集</vt:lpstr>
      <vt:lpstr>数据预处理</vt:lpstr>
      <vt:lpstr>模型构建：举例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熊猫哒哒</dc:creator>
  <cp:lastModifiedBy>旻旻旻旻旻</cp:lastModifiedBy>
  <cp:revision>1499</cp:revision>
  <dcterms:created xsi:type="dcterms:W3CDTF">2017-10-19T15:57:00Z</dcterms:created>
  <dcterms:modified xsi:type="dcterms:W3CDTF">2022-05-30T01:50:59Z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2052-11.1.0.11744</vt:lpwstr>
  </property>
  <property fmtid="{D5CDD505-2E9C-101B-9397-08002B2CF9AE}" pid="3" name="KSOTemplateUUID">
    <vt:lpwstr>v1.0_mb_mxEpB64Qg0VKRy1Yu6XVyw==</vt:lpwstr>
  </property>
  <property fmtid="{D5CDD505-2E9C-101B-9397-08002B2CF9AE}" pid="4" name="ICV">
    <vt:lpwstr>D7189362F8B0474093B6116C91075CFA</vt:lpwstr>
  </property>
</Properties>
</file>